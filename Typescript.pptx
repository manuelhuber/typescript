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gif" ContentType="image/gif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840" r:id="rId1"/>
  </p:sldMasterIdLst>
  <p:sldIdLst>
    <p:sldId id="256" r:id="rId2"/>
    <p:sldId id="303" r:id="rId3"/>
    <p:sldId id="308" r:id="rId4"/>
    <p:sldId id="269" r:id="rId5"/>
    <p:sldId id="257" r:id="rId6"/>
    <p:sldId id="259" r:id="rId7"/>
    <p:sldId id="267" r:id="rId8"/>
    <p:sldId id="262" r:id="rId9"/>
    <p:sldId id="311" r:id="rId10"/>
    <p:sldId id="264" r:id="rId11"/>
    <p:sldId id="263" r:id="rId12"/>
    <p:sldId id="265" r:id="rId13"/>
    <p:sldId id="268" r:id="rId14"/>
    <p:sldId id="276" r:id="rId15"/>
    <p:sldId id="270" r:id="rId16"/>
    <p:sldId id="271" r:id="rId17"/>
    <p:sldId id="273" r:id="rId18"/>
    <p:sldId id="275" r:id="rId19"/>
    <p:sldId id="272" r:id="rId20"/>
    <p:sldId id="281" r:id="rId21"/>
    <p:sldId id="277" r:id="rId22"/>
    <p:sldId id="278" r:id="rId23"/>
    <p:sldId id="279" r:id="rId24"/>
    <p:sldId id="280" r:id="rId25"/>
    <p:sldId id="285" r:id="rId26"/>
    <p:sldId id="286" r:id="rId27"/>
    <p:sldId id="288" r:id="rId28"/>
    <p:sldId id="289" r:id="rId29"/>
    <p:sldId id="310" r:id="rId30"/>
    <p:sldId id="300" r:id="rId31"/>
    <p:sldId id="291" r:id="rId32"/>
    <p:sldId id="287" r:id="rId33"/>
    <p:sldId id="290" r:id="rId34"/>
    <p:sldId id="292" r:id="rId35"/>
    <p:sldId id="301" r:id="rId36"/>
    <p:sldId id="293" r:id="rId37"/>
    <p:sldId id="283" r:id="rId38"/>
    <p:sldId id="284" r:id="rId39"/>
    <p:sldId id="294" r:id="rId40"/>
    <p:sldId id="296" r:id="rId41"/>
    <p:sldId id="297" r:id="rId42"/>
    <p:sldId id="298" r:id="rId43"/>
    <p:sldId id="299" r:id="rId44"/>
    <p:sldId id="302" r:id="rId45"/>
    <p:sldId id="295" r:id="rId46"/>
    <p:sldId id="304" r:id="rId47"/>
    <p:sldId id="305" r:id="rId48"/>
    <p:sldId id="306" r:id="rId49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DFCF124C-5AFE-49D5-BB84-7D20E5B033C4}">
          <p14:sldIdLst>
            <p14:sldId id="256"/>
            <p14:sldId id="303"/>
          </p14:sldIdLst>
        </p14:section>
        <p14:section name="Summary Section" id="{FC962BEB-3E83-41E1-A56D-D9F400005E1C}">
          <p14:sldIdLst>
            <p14:sldId id="308"/>
          </p14:sldIdLst>
        </p14:section>
        <p14:section name="_Basics" id="{3FDA1A42-9D8A-4EB7-9325-9494EE2103A6}">
          <p14:sldIdLst>
            <p14:sldId id="269"/>
          </p14:sldIdLst>
        </p14:section>
        <p14:section name="Declare variable" id="{181E29B0-F18C-4551-AB2A-BCD841CBADCD}">
          <p14:sldIdLst>
            <p14:sldId id="257"/>
            <p14:sldId id="259"/>
          </p14:sldIdLst>
        </p14:section>
        <p14:section name="Types – Part 1" id="{FC40A588-AE5F-495D-B336-7D287693925D}">
          <p14:sldIdLst>
            <p14:sldId id="267"/>
            <p14:sldId id="262"/>
            <p14:sldId id="311"/>
            <p14:sldId id="264"/>
          </p14:sldIdLst>
        </p14:section>
        <p14:section name="Objects" id="{35CAD9EE-E5D4-46A0-ACA4-47DEA4E5BB8C}">
          <p14:sldIdLst>
            <p14:sldId id="263"/>
            <p14:sldId id="265"/>
          </p14:sldIdLst>
        </p14:section>
        <p14:section name="Truthy &amp; Falsy" id="{17F2CB21-DAB8-4FCD-AA54-380F6DC44B82}">
          <p14:sldIdLst>
            <p14:sldId id="268"/>
          </p14:sldIdLst>
        </p14:section>
        <p14:section name="_Operations" id="{1911C78B-51E3-4DD5-A36B-D4A7ACDEBBCE}">
          <p14:sldIdLst>
            <p14:sldId id="276"/>
          </p14:sldIdLst>
        </p14:section>
        <p14:section name="Boolean Expressions" id="{3910ABA5-024F-44BF-BAB4-0E6816D359A1}">
          <p14:sldIdLst>
            <p14:sldId id="270"/>
          </p14:sldIdLst>
        </p14:section>
        <p14:section name="Operations" id="{B858D946-C53A-4708-B422-12CE0E78A702}">
          <p14:sldIdLst>
            <p14:sldId id="271"/>
            <p14:sldId id="273"/>
            <p14:sldId id="275"/>
          </p14:sldIdLst>
        </p14:section>
        <p14:section name="Loops" id="{F0BA19BB-1530-418C-AB6F-FB3A325142B5}">
          <p14:sldIdLst>
            <p14:sldId id="272"/>
          </p14:sldIdLst>
        </p14:section>
        <p14:section name="_OOP" id="{AE89D0ED-BC0D-46FE-875F-397CC3B09DA4}">
          <p14:sldIdLst>
            <p14:sldId id="281"/>
          </p14:sldIdLst>
        </p14:section>
        <p14:section name="Class" id="{1F34B62B-A216-477C-B3CB-127D7BAB8C5F}">
          <p14:sldIdLst>
            <p14:sldId id="277"/>
            <p14:sldId id="278"/>
            <p14:sldId id="279"/>
          </p14:sldIdLst>
        </p14:section>
        <p14:section name="Interface" id="{C5D8CD8D-8FD5-4EEC-86B2-3A92DC7DA6DA}">
          <p14:sldIdLst>
            <p14:sldId id="280"/>
          </p14:sldIdLst>
        </p14:section>
        <p14:section name="_Functions" id="{FA2D006A-90CB-48EC-919F-8385A1939BD7}">
          <p14:sldIdLst>
            <p14:sldId id="285"/>
          </p14:sldIdLst>
        </p14:section>
        <p14:section name="Syntax" id="{7E4CB3D5-4115-4DA7-96C8-D3B2B1B3D791}">
          <p14:sldIdLst>
            <p14:sldId id="286"/>
            <p14:sldId id="288"/>
          </p14:sldIdLst>
        </p14:section>
        <p14:section name="Typing" id="{93DEBB8D-ECA1-4F89-BB41-46DAD797472D}">
          <p14:sldIdLst>
            <p14:sldId id="289"/>
            <p14:sldId id="310"/>
            <p14:sldId id="300"/>
            <p14:sldId id="291"/>
          </p14:sldIdLst>
        </p14:section>
        <p14:section name="Rest Parameters" id="{8599694B-A55B-4BD9-9ACA-F632C7D1925D}">
          <p14:sldIdLst>
            <p14:sldId id="287"/>
            <p14:sldId id="290"/>
          </p14:sldIdLst>
        </p14:section>
        <p14:section name="Lazy Generators (ES6 only!)" id="{106C052C-0C44-4E41-9330-8FE4C9B1E510}">
          <p14:sldIdLst>
            <p14:sldId id="292"/>
            <p14:sldId id="301"/>
            <p14:sldId id="293"/>
          </p14:sldIdLst>
        </p14:section>
        <p14:section name="_Arrays" id="{8D399660-254B-4018-8AAE-4022D3519FBC}">
          <p14:sldIdLst>
            <p14:sldId id="283"/>
          </p14:sldIdLst>
        </p14:section>
        <p14:section name="Operations" id="{53560B42-0755-411A-BE43-64585385B195}">
          <p14:sldIdLst>
            <p14:sldId id="284"/>
            <p14:sldId id="294"/>
            <p14:sldId id="296"/>
          </p14:sldIdLst>
        </p14:section>
        <p14:section name="Filter" id="{D9040914-A825-45D3-A1B0-0F1F7B6DAA89}">
          <p14:sldIdLst>
            <p14:sldId id="297"/>
          </p14:sldIdLst>
        </p14:section>
        <p14:section name="Map" id="{37FABDBF-9C64-496D-BE49-D1455AB6FE36}">
          <p14:sldIdLst>
            <p14:sldId id="298"/>
          </p14:sldIdLst>
        </p14:section>
        <p14:section name="Reduce" id="{5FA8F333-0FFA-49E3-B70B-F988FB93C4CF}">
          <p14:sldIdLst>
            <p14:sldId id="299"/>
          </p14:sldIdLst>
        </p14:section>
        <p14:section name="Exercises" id="{67F6FD5E-7F28-4A75-9591-70B24B5D76BC}">
          <p14:sldIdLst>
            <p14:sldId id="302"/>
            <p14:sldId id="295"/>
            <p14:sldId id="304"/>
            <p14:sldId id="305"/>
            <p14:sldId id="306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FEDE3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93" autoAdjust="0"/>
    <p:restoredTop sz="94660"/>
  </p:normalViewPr>
  <p:slideViewPr>
    <p:cSldViewPr snapToGrid="0">
      <p:cViewPr varScale="1">
        <p:scale>
          <a:sx n="114" d="100"/>
          <a:sy n="114" d="100"/>
        </p:scale>
        <p:origin x="360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50" Type="http://schemas.openxmlformats.org/officeDocument/2006/relationships/presProps" Target="pres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8" Type="http://schemas.openxmlformats.org/officeDocument/2006/relationships/slide" Target="slides/slide7.xml"/><Relationship Id="rId51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915128" y="1788454"/>
            <a:ext cx="8361229" cy="2098226"/>
          </a:xfrm>
        </p:spPr>
        <p:txBody>
          <a:bodyPr anchor="b">
            <a:noAutofit/>
          </a:bodyPr>
          <a:lstStyle>
            <a:lvl1pPr algn="ctr">
              <a:defRPr sz="7200" cap="all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679906" y="3956279"/>
            <a:ext cx="6831673" cy="1086237"/>
          </a:xfrm>
        </p:spPr>
        <p:txBody>
          <a:bodyPr>
            <a:normAutofit/>
          </a:bodyPr>
          <a:lstStyle>
            <a:lvl1pPr marL="0" indent="0" algn="ct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300">
                <a:solidFill>
                  <a:schemeClr val="bg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52858" y="6453386"/>
            <a:ext cx="1607944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054" y="6453386"/>
            <a:ext cx="7023377" cy="404614"/>
          </a:xfrm>
        </p:spPr>
        <p:txBody>
          <a:bodyPr/>
          <a:lstStyle>
            <a:lvl1pPr algn="ctr">
              <a:defRPr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grpSp>
        <p:nvGrpSpPr>
          <p:cNvPr id="9" name="Group 8"/>
          <p:cNvGrpSpPr/>
          <p:nvPr/>
        </p:nvGrpSpPr>
        <p:grpSpPr>
          <a:xfrm>
            <a:off x="752858" y="744469"/>
            <a:ext cx="10674117" cy="5349671"/>
            <a:chOff x="752858" y="744469"/>
            <a:chExt cx="10674117" cy="5349671"/>
          </a:xfrm>
        </p:grpSpPr>
        <p:sp>
          <p:nvSpPr>
            <p:cNvPr id="11" name="Freeform 6"/>
            <p:cNvSpPr/>
            <p:nvPr/>
          </p:nvSpPr>
          <p:spPr bwMode="auto">
            <a:xfrm>
              <a:off x="8151962" y="1685652"/>
              <a:ext cx="3275013" cy="4408488"/>
            </a:xfrm>
            <a:custGeom>
              <a:avLst/>
              <a:gdLst/>
              <a:ahLst/>
              <a:cxnLst/>
              <a:rect l="l" t="t" r="r" b="b"/>
              <a:pathLst>
                <a:path w="10000" h="10000">
                  <a:moveTo>
                    <a:pt x="8761" y="0"/>
                  </a:moveTo>
                  <a:lnTo>
                    <a:pt x="10000" y="0"/>
                  </a:lnTo>
                  <a:lnTo>
                    <a:pt x="10000" y="10000"/>
                  </a:lnTo>
                  <a:lnTo>
                    <a:pt x="0" y="10000"/>
                  </a:lnTo>
                  <a:lnTo>
                    <a:pt x="0" y="9126"/>
                  </a:lnTo>
                  <a:lnTo>
                    <a:pt x="8761" y="9127"/>
                  </a:lnTo>
                  <a:lnTo>
                    <a:pt x="8761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  <p:sp>
          <p:nvSpPr>
            <p:cNvPr id="14" name="Freeform 6"/>
            <p:cNvSpPr/>
            <p:nvPr/>
          </p:nvSpPr>
          <p:spPr bwMode="auto">
            <a:xfrm flipH="1" flipV="1">
              <a:off x="752858" y="744469"/>
              <a:ext cx="3275668" cy="4408488"/>
            </a:xfrm>
            <a:custGeom>
              <a:avLst/>
              <a:gdLst/>
              <a:ahLst/>
              <a:cxnLst/>
              <a:rect l="l" t="t" r="r" b="b"/>
              <a:pathLst>
                <a:path w="10002" h="10000">
                  <a:moveTo>
                    <a:pt x="8763" y="0"/>
                  </a:moveTo>
                  <a:lnTo>
                    <a:pt x="10002" y="0"/>
                  </a:lnTo>
                  <a:lnTo>
                    <a:pt x="10002" y="10000"/>
                  </a:lnTo>
                  <a:lnTo>
                    <a:pt x="2" y="10000"/>
                  </a:lnTo>
                  <a:cubicBezTo>
                    <a:pt x="-2" y="9698"/>
                    <a:pt x="4" y="9427"/>
                    <a:pt x="0" y="9125"/>
                  </a:cubicBezTo>
                  <a:lnTo>
                    <a:pt x="8763" y="9128"/>
                  </a:lnTo>
                  <a:lnTo>
                    <a:pt x="8763" y="0"/>
                  </a:lnTo>
                  <a:close/>
                </a:path>
              </a:pathLst>
            </a:custGeom>
            <a:solidFill>
              <a:schemeClr val="tx2"/>
            </a:solidFill>
            <a:ln w="0">
              <a:noFill/>
              <a:prstDash val="solid"/>
              <a:round/>
              <a:headEnd/>
              <a:tailEnd/>
            </a:ln>
          </p:spPr>
        </p:sp>
      </p:grpSp>
    </p:spTree>
    <p:extLst>
      <p:ext uri="{BB962C8B-B14F-4D97-AF65-F5344CB8AC3E}">
        <p14:creationId xmlns:p14="http://schemas.microsoft.com/office/powerpoint/2010/main" val="26921685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395721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65025" y="1301360"/>
            <a:ext cx="9612971" cy="2852737"/>
          </a:xfrm>
        </p:spPr>
        <p:txBody>
          <a:bodyPr anchor="b">
            <a:normAutofit/>
          </a:bodyPr>
          <a:lstStyle>
            <a:lvl1pPr algn="r">
              <a:defRPr sz="7200" cap="all" baseline="0">
                <a:solidFill>
                  <a:schemeClr val="accent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65025" y="4216328"/>
            <a:ext cx="9612971" cy="1143324"/>
          </a:xfrm>
        </p:spPr>
        <p:txBody>
          <a:bodyPr/>
          <a:lstStyle>
            <a:lvl1pPr marL="0" indent="0" algn="r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  <a:defRPr sz="2400">
                <a:solidFill>
                  <a:schemeClr val="tx2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38908" y="6453386"/>
            <a:ext cx="1622409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2584312" y="6453386"/>
            <a:ext cx="7023377" cy="404614"/>
          </a:xfrm>
        </p:spPr>
        <p:txBody>
          <a:bodyPr/>
          <a:lstStyle>
            <a:lvl1pPr algn="ctr"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30683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7" name="Freeform 6" title="Crop Mark"/>
          <p:cNvSpPr/>
          <p:nvPr/>
        </p:nvSpPr>
        <p:spPr bwMode="auto">
          <a:xfrm>
            <a:off x="8151962" y="1685652"/>
            <a:ext cx="3275013" cy="4408488"/>
          </a:xfrm>
          <a:custGeom>
            <a:avLst/>
            <a:gdLst/>
            <a:ahLst/>
            <a:cxnLst/>
            <a:rect l="0" t="0" r="r" b="b"/>
            <a:pathLst>
              <a:path w="4125" h="5554">
                <a:moveTo>
                  <a:pt x="3614" y="0"/>
                </a:moveTo>
                <a:lnTo>
                  <a:pt x="4125" y="0"/>
                </a:lnTo>
                <a:lnTo>
                  <a:pt x="4125" y="5554"/>
                </a:lnTo>
                <a:lnTo>
                  <a:pt x="0" y="5554"/>
                </a:lnTo>
                <a:lnTo>
                  <a:pt x="0" y="5074"/>
                </a:lnTo>
                <a:lnTo>
                  <a:pt x="3614" y="5074"/>
                </a:lnTo>
                <a:lnTo>
                  <a:pt x="3614" y="0"/>
                </a:lnTo>
                <a:close/>
              </a:path>
            </a:pathLst>
          </a:custGeom>
          <a:solidFill>
            <a:schemeClr val="accent1"/>
          </a:solidFill>
          <a:ln w="0">
            <a:noFill/>
            <a:prstDash val="solid"/>
            <a:round/>
            <a:headEnd/>
            <a:tailEnd/>
          </a:ln>
        </p:spPr>
      </p:sp>
    </p:spTree>
    <p:extLst>
      <p:ext uri="{BB962C8B-B14F-4D97-AF65-F5344CB8AC3E}">
        <p14:creationId xmlns:p14="http://schemas.microsoft.com/office/powerpoint/2010/main" val="1987400695"/>
      </p:ext>
    </p:extLst>
  </p:cSld>
  <p:clrMapOvr>
    <a:overrideClrMapping bg1="dk1" tx1="lt1" bg2="dk2" tx2="lt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4447786" cy="3581401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525403" y="2285999"/>
            <a:ext cx="4447786" cy="3581401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0858060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71600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2340864"/>
            <a:ext cx="4443984" cy="823912"/>
          </a:xfrm>
        </p:spPr>
        <p:txBody>
          <a:bodyPr anchor="b">
            <a:noAutofit/>
          </a:bodyPr>
          <a:lstStyle>
            <a:lvl1pPr marL="0" indent="0">
              <a:lnSpc>
                <a:spcPct val="84000"/>
              </a:lnSpc>
              <a:spcBef>
                <a:spcPts val="0"/>
              </a:spcBef>
              <a:spcAft>
                <a:spcPts val="0"/>
              </a:spcAft>
              <a:buNone/>
              <a:defRPr sz="3000" b="0" baseline="0">
                <a:solidFill>
                  <a:schemeClr val="tx2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525014" y="3305207"/>
            <a:ext cx="4443984" cy="2562193"/>
          </a:xfrm>
        </p:spPr>
        <p:txBody>
          <a:bodyPr/>
          <a:lstStyle>
            <a:lvl1pPr>
              <a:defRPr baseline="0">
                <a:solidFill>
                  <a:schemeClr val="tx2"/>
                </a:solidFill>
              </a:defRPr>
            </a:lvl1pPr>
            <a:lvl2pPr>
              <a:defRPr baseline="0">
                <a:solidFill>
                  <a:schemeClr val="tx2"/>
                </a:solidFill>
              </a:defRPr>
            </a:lvl2pPr>
            <a:lvl3pPr>
              <a:defRPr baseline="0">
                <a:solidFill>
                  <a:schemeClr val="tx2"/>
                </a:solidFill>
              </a:defRPr>
            </a:lvl3pPr>
            <a:lvl4pPr>
              <a:defRPr baseline="0">
                <a:solidFill>
                  <a:schemeClr val="tx2"/>
                </a:solidFill>
              </a:defRPr>
            </a:lvl4pPr>
            <a:lvl5pPr>
              <a:defRPr baseline="0">
                <a:solidFill>
                  <a:schemeClr val="tx2"/>
                </a:solidFill>
              </a:defRPr>
            </a:lvl5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3665116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722969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1459983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Autofit/>
          </a:bodyPr>
          <a:lstStyle>
            <a:lvl1pPr>
              <a:lnSpc>
                <a:spcPct val="84000"/>
              </a:lnSpc>
              <a:defRPr sz="4800" baseline="0">
                <a:solidFill>
                  <a:schemeClr val="tx2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6256020" y="685801"/>
            <a:ext cx="5212080" cy="5175250"/>
          </a:xfrm>
        </p:spPr>
        <p:txBody>
          <a:bodyPr/>
          <a:lstStyle>
            <a:lvl1pPr>
              <a:defRPr sz="2000"/>
            </a:lvl1pPr>
            <a:lvl2pPr>
              <a:defRPr sz="2000"/>
            </a:lvl2pPr>
            <a:lvl3pPr>
              <a:defRPr sz="1800"/>
            </a:lvl3pPr>
            <a:lvl4pPr>
              <a:defRPr sz="18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6344"/>
            <a:ext cx="3855720" cy="3011056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13621737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 title="Background Shape"/>
          <p:cNvSpPr/>
          <p:nvPr/>
        </p:nvSpPr>
        <p:spPr>
          <a:xfrm>
            <a:off x="0" y="376"/>
            <a:ext cx="5303520" cy="6857624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3900" y="685800"/>
            <a:ext cx="3855720" cy="2157884"/>
          </a:xfrm>
        </p:spPr>
        <p:txBody>
          <a:bodyPr anchor="t">
            <a:normAutofit/>
          </a:bodyPr>
          <a:lstStyle>
            <a:lvl1pPr>
              <a:lnSpc>
                <a:spcPct val="84000"/>
              </a:lnSpc>
              <a:defRPr sz="480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532120" y="0"/>
            <a:ext cx="6659880" cy="6857999"/>
          </a:xfrm>
        </p:spPr>
        <p:txBody>
          <a:bodyPr anchor="t">
            <a:normAutofit/>
          </a:bodyPr>
          <a:lstStyle>
            <a:lvl1pPr marL="0" indent="0">
              <a:buNone/>
              <a:defRPr sz="2000"/>
            </a:lvl1pPr>
            <a:lvl2pPr marL="457200" indent="0">
              <a:buNone/>
              <a:defRPr sz="2000"/>
            </a:lvl2pPr>
            <a:lvl3pPr marL="914400" indent="0">
              <a:buNone/>
              <a:defRPr sz="20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723900" y="2855968"/>
            <a:ext cx="3855720" cy="3011432"/>
          </a:xfrm>
        </p:spPr>
        <p:txBody>
          <a:bodyPr/>
          <a:lstStyle>
            <a:lvl1pPr marL="0" indent="0">
              <a:lnSpc>
                <a:spcPct val="113000"/>
              </a:lnSpc>
              <a:spcBef>
                <a:spcPts val="0"/>
              </a:spcBef>
              <a:spcAft>
                <a:spcPts val="1500"/>
              </a:spcAft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723900" y="6453386"/>
            <a:ext cx="120457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2205945" y="6453386"/>
            <a:ext cx="2373675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9883140" y="6453386"/>
            <a:ext cx="1596292" cy="404614"/>
          </a:xfrm>
        </p:spPr>
        <p:txBody>
          <a:bodyPr/>
          <a:lstStyle>
            <a:lvl1pPr>
              <a:defRPr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 title="Divider Bar"/>
          <p:cNvSpPr/>
          <p:nvPr/>
        </p:nvSpPr>
        <p:spPr>
          <a:xfrm>
            <a:off x="5303520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345062172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2295525"/>
            <a:ext cx="9601200" cy="3571875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88589535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596561" y="624156"/>
            <a:ext cx="1565766" cy="52432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371600" y="624156"/>
            <a:ext cx="8179641" cy="5243244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7DE6118-2437-4B30-8E3C-4D2BE6020583}" type="datetimeFigureOut">
              <a:rPr lang="en-US" smtClean="0"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9E57DC2-970A-4B3E-BB1C-7A09969E49DF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5518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FEDE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371600" y="685800"/>
            <a:ext cx="9601200" cy="148590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600" y="2286000"/>
            <a:ext cx="9601200" cy="35814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390650" y="6453386"/>
            <a:ext cx="120457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fld id="{87DE6118-2437-4B30-8E3C-4D2BE6020583}" type="datetimeFigureOut">
              <a:rPr lang="en-US" smtClean="0"/>
              <a:pPr/>
              <a:t>6/26/2017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893564" y="6453386"/>
            <a:ext cx="6280830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 baseline="0">
                <a:solidFill>
                  <a:schemeClr val="tx2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9472736" y="6453386"/>
            <a:ext cx="1596292" cy="40461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 baseline="0">
                <a:solidFill>
                  <a:schemeClr val="tx2"/>
                </a:solidFill>
              </a:defRPr>
            </a:lvl1pPr>
          </a:lstStyle>
          <a:p>
            <a:fld id="{69E57DC2-970A-4B3E-BB1C-7A09969E49DF}" type="slidenum">
              <a:rPr lang="en-US" smtClean="0"/>
              <a:pPr/>
              <a:t>‹#›</a:t>
            </a:fld>
            <a:endParaRPr lang="en-US" dirty="0"/>
          </a:p>
        </p:txBody>
      </p:sp>
      <p:sp>
        <p:nvSpPr>
          <p:cNvPr id="9" name="Rectangle 8" title="Side bar"/>
          <p:cNvSpPr/>
          <p:nvPr/>
        </p:nvSpPr>
        <p:spPr>
          <a:xfrm>
            <a:off x="478095" y="376"/>
            <a:ext cx="228600" cy="6858000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sp>
    </p:spTree>
    <p:extLst>
      <p:ext uri="{BB962C8B-B14F-4D97-AF65-F5344CB8AC3E}">
        <p14:creationId xmlns:p14="http://schemas.microsoft.com/office/powerpoint/2010/main" val="89269692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41" r:id="rId1"/>
    <p:sldLayoutId id="2147483842" r:id="rId2"/>
    <p:sldLayoutId id="2147483843" r:id="rId3"/>
    <p:sldLayoutId id="2147483844" r:id="rId4"/>
    <p:sldLayoutId id="2147483845" r:id="rId5"/>
    <p:sldLayoutId id="2147483846" r:id="rId6"/>
    <p:sldLayoutId id="2147483847" r:id="rId7"/>
    <p:sldLayoutId id="2147483848" r:id="rId8"/>
    <p:sldLayoutId id="2147483849" r:id="rId9"/>
    <p:sldLayoutId id="2147483850" r:id="rId10"/>
    <p:sldLayoutId id="2147483851" r:id="rId11"/>
  </p:sldLayoutIdLst>
  <p:txStyles>
    <p:titleStyle>
      <a:lvl1pPr algn="l" defTabSz="914400" rtl="0" eaLnBrk="1" latinLnBrk="0" hangingPunct="1">
        <a:lnSpc>
          <a:spcPct val="89000"/>
        </a:lnSpc>
        <a:spcBef>
          <a:spcPct val="0"/>
        </a:spcBef>
        <a:buNone/>
        <a:defRPr sz="4400" kern="1200" baseline="0">
          <a:solidFill>
            <a:schemeClr val="tx2"/>
          </a:solidFill>
          <a:latin typeface="+mj-lt"/>
          <a:ea typeface="+mj-ea"/>
          <a:cs typeface="+mj-cs"/>
        </a:defRPr>
      </a:lvl1pPr>
    </p:titleStyle>
    <p:bodyStyle>
      <a:lvl1pPr marL="384048" indent="-384048" algn="l" defTabSz="914400" rtl="0" eaLnBrk="1" latinLnBrk="0" hangingPunct="1">
        <a:lnSpc>
          <a:spcPct val="94000"/>
        </a:lnSpc>
        <a:spcBef>
          <a:spcPts val="1000"/>
        </a:spcBef>
        <a:spcAft>
          <a:spcPts val="200"/>
        </a:spcAft>
        <a:buFont typeface="Franklin Gothic Book" panose="020B0503020102020204" pitchFamily="34" charset="0"/>
        <a:buChar char="■"/>
        <a:defRPr sz="2000" kern="1200" baseline="0">
          <a:solidFill>
            <a:schemeClr val="tx2"/>
          </a:solidFill>
          <a:latin typeface="+mn-lt"/>
          <a:ea typeface="+mn-ea"/>
          <a:cs typeface="+mn-cs"/>
        </a:defRPr>
      </a:lvl1pPr>
      <a:lvl2pPr marL="914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2000" i="1" kern="1200" baseline="0">
          <a:solidFill>
            <a:schemeClr val="tx2"/>
          </a:solidFill>
          <a:latin typeface="+mn-lt"/>
          <a:ea typeface="+mn-ea"/>
          <a:cs typeface="+mn-cs"/>
        </a:defRPr>
      </a:lvl2pPr>
      <a:lvl3pPr marL="1371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800" kern="1200" baseline="0">
          <a:solidFill>
            <a:schemeClr val="tx2"/>
          </a:solidFill>
          <a:latin typeface="+mn-lt"/>
          <a:ea typeface="+mn-ea"/>
          <a:cs typeface="+mn-cs"/>
        </a:defRPr>
      </a:lvl3pPr>
      <a:lvl4pPr marL="1828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800" i="1" kern="1200" baseline="0">
          <a:solidFill>
            <a:schemeClr val="tx2"/>
          </a:solidFill>
          <a:latin typeface="+mn-lt"/>
          <a:ea typeface="+mn-ea"/>
          <a:cs typeface="+mn-cs"/>
        </a:defRPr>
      </a:lvl4pPr>
      <a:lvl5pPr marL="22860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600" kern="1200" baseline="0">
          <a:solidFill>
            <a:schemeClr val="tx2"/>
          </a:solidFill>
          <a:latin typeface="+mn-lt"/>
          <a:ea typeface="+mn-ea"/>
          <a:cs typeface="+mn-cs"/>
        </a:defRPr>
      </a:lvl5pPr>
      <a:lvl6pPr marL="27432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600" i="1" kern="1200" baseline="0">
          <a:solidFill>
            <a:schemeClr val="tx2"/>
          </a:solidFill>
          <a:latin typeface="+mn-lt"/>
          <a:ea typeface="+mn-ea"/>
          <a:cs typeface="+mn-cs"/>
        </a:defRPr>
      </a:lvl6pPr>
      <a:lvl7pPr marL="32004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7pPr>
      <a:lvl8pPr marL="36576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–"/>
        <a:defRPr sz="1400" i="1" kern="1200" baseline="0">
          <a:solidFill>
            <a:schemeClr val="tx2"/>
          </a:solidFill>
          <a:latin typeface="+mn-lt"/>
          <a:ea typeface="+mn-ea"/>
          <a:cs typeface="+mn-cs"/>
        </a:defRPr>
      </a:lvl8pPr>
      <a:lvl9pPr marL="4114800" indent="-384048" algn="l" defTabSz="914400" rtl="0" eaLnBrk="1" latinLnBrk="0" hangingPunct="1">
        <a:lnSpc>
          <a:spcPct val="94000"/>
        </a:lnSpc>
        <a:spcBef>
          <a:spcPts val="500"/>
        </a:spcBef>
        <a:spcAft>
          <a:spcPts val="200"/>
        </a:spcAft>
        <a:buFont typeface="Franklin Gothic Book" panose="020B0503020102020204" pitchFamily="34" charset="0"/>
        <a:buChar char="■"/>
        <a:defRPr sz="1400" kern="1200" baseline="0">
          <a:solidFill>
            <a:schemeClr val="tx2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 mod="1">
    <p:ext uri="{27BBF7A9-308A-43DC-89C8-2F10F3537804}">
      <p15:sldGuideLst xmlns:p15="http://schemas.microsoft.com/office/powerpoint/2012/main">
        <p15:guide id="3" orient="horz" pos="1368">
          <p15:clr>
            <a:srgbClr val="F26B43"/>
          </p15:clr>
        </p15:guide>
        <p15:guide id="4" orient="horz" pos="1440">
          <p15:clr>
            <a:srgbClr val="F26B43"/>
          </p15:clr>
        </p15:guide>
        <p15:guide id="6" orient="horz" pos="3696">
          <p15:clr>
            <a:srgbClr val="F26B43"/>
          </p15:clr>
        </p15:guide>
        <p15:guide id="7" orient="horz" pos="432">
          <p15:clr>
            <a:srgbClr val="F26B43"/>
          </p15:clr>
        </p15:guide>
        <p15:guide id="8" orient="horz" pos="1512">
          <p15:clr>
            <a:srgbClr val="F26B43"/>
          </p15:clr>
        </p15:guide>
        <p15:guide id="9" pos="6912">
          <p15:clr>
            <a:srgbClr val="F26B43"/>
          </p15:clr>
        </p15:guide>
        <p15:guide id="10" pos="936">
          <p15:clr>
            <a:srgbClr val="F26B43"/>
          </p15:clr>
        </p15:guide>
        <p15:guide id="11" pos="864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slide" Target="slide14.xml"/><Relationship Id="rId3" Type="http://schemas.openxmlformats.org/officeDocument/2006/relationships/image" Target="../media/image2.png"/><Relationship Id="rId7" Type="http://schemas.openxmlformats.org/officeDocument/2006/relationships/slide" Target="slide4.xml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11" Type="http://schemas.openxmlformats.org/officeDocument/2006/relationships/slide" Target="slide37.xml"/><Relationship Id="rId5" Type="http://schemas.openxmlformats.org/officeDocument/2006/relationships/image" Target="../media/image4.png"/><Relationship Id="rId10" Type="http://schemas.openxmlformats.org/officeDocument/2006/relationships/slide" Target="slide25.xml"/><Relationship Id="rId4" Type="http://schemas.openxmlformats.org/officeDocument/2006/relationships/image" Target="../media/image3.png"/><Relationship Id="rId9" Type="http://schemas.openxmlformats.org/officeDocument/2006/relationships/slide" Target="slide20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slide" Target="slide11.xml"/><Relationship Id="rId3" Type="http://schemas.openxmlformats.org/officeDocument/2006/relationships/image" Target="../media/image7.png"/><Relationship Id="rId7" Type="http://schemas.openxmlformats.org/officeDocument/2006/relationships/slide" Target="slide7.xml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slide" Target="slide5.xml"/><Relationship Id="rId5" Type="http://schemas.openxmlformats.org/officeDocument/2006/relationships/image" Target="../media/image9.png"/><Relationship Id="rId10" Type="http://schemas.openxmlformats.org/officeDocument/2006/relationships/slide" Target="slide3.xml"/><Relationship Id="rId4" Type="http://schemas.openxmlformats.org/officeDocument/2006/relationships/image" Target="../media/image8.png"/><Relationship Id="rId9" Type="http://schemas.openxmlformats.org/officeDocument/2006/relationships/slide" Target="slide13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gif"/><Relationship Id="rId2" Type="http://schemas.openxmlformats.org/officeDocument/2006/relationships/image" Target="../media/image11.jpe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" Target="slide4.xml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4.xml"/></Relationships>
</file>

<file path=ppt/slides/_rels/slide14.xml.rels><?xml version="1.0" encoding="UTF-8" standalone="yes"?>
<Relationships xmlns="http://schemas.openxmlformats.org/package/2006/relationships"><Relationship Id="rId8" Type="http://schemas.openxmlformats.org/officeDocument/2006/relationships/slide" Target="slide3.xml"/><Relationship Id="rId3" Type="http://schemas.openxmlformats.org/officeDocument/2006/relationships/image" Target="../media/image21.png"/><Relationship Id="rId7" Type="http://schemas.openxmlformats.org/officeDocument/2006/relationships/slide" Target="slide19.xml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6.xml"/><Relationship Id="rId5" Type="http://schemas.openxmlformats.org/officeDocument/2006/relationships/slide" Target="slide15.xml"/><Relationship Id="rId4" Type="http://schemas.openxmlformats.org/officeDocument/2006/relationships/image" Target="../media/image2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.png"/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5.xml"/><Relationship Id="rId4" Type="http://schemas.openxmlformats.org/officeDocument/2006/relationships/slide" Target="slide14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5.xml"/><Relationship Id="rId4" Type="http://schemas.openxmlformats.org/officeDocument/2006/relationships/slide" Target="slide14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" Target="slide14.xml"/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0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5.xml"/><Relationship Id="rId4" Type="http://schemas.openxmlformats.org/officeDocument/2006/relationships/slide" Target="slide1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6" Type="http://schemas.openxmlformats.org/officeDocument/2006/relationships/slide" Target="slide3.xml"/><Relationship Id="rId5" Type="http://schemas.openxmlformats.org/officeDocument/2006/relationships/slide" Target="slide24.xml"/><Relationship Id="rId4" Type="http://schemas.openxmlformats.org/officeDocument/2006/relationships/slide" Target="slide2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slide" Target="slide20.xm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34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4.xml"/><Relationship Id="rId4" Type="http://schemas.openxmlformats.org/officeDocument/2006/relationships/slide" Target="slide20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8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4.xml"/><Relationship Id="rId4" Type="http://schemas.openxmlformats.org/officeDocument/2006/relationships/slide" Target="slide20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20.xml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8" Type="http://schemas.openxmlformats.org/officeDocument/2006/relationships/slide" Target="slide32.xml"/><Relationship Id="rId3" Type="http://schemas.openxmlformats.org/officeDocument/2006/relationships/image" Target="../media/image41.png"/><Relationship Id="rId7" Type="http://schemas.openxmlformats.org/officeDocument/2006/relationships/slide" Target="slide28.xml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Relationship Id="rId6" Type="http://schemas.openxmlformats.org/officeDocument/2006/relationships/slide" Target="slide26.xml"/><Relationship Id="rId5" Type="http://schemas.openxmlformats.org/officeDocument/2006/relationships/image" Target="../media/image43.png"/><Relationship Id="rId10" Type="http://schemas.openxmlformats.org/officeDocument/2006/relationships/slide" Target="slide3.xml"/><Relationship Id="rId4" Type="http://schemas.openxmlformats.org/officeDocument/2006/relationships/image" Target="../media/image42.png"/><Relationship Id="rId9" Type="http://schemas.openxmlformats.org/officeDocument/2006/relationships/slide" Target="slide34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4.xml"/><Relationship Id="rId4" Type="http://schemas.openxmlformats.org/officeDocument/2006/relationships/slide" Target="slide25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slide" Target="slide25.xml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slide" Target="slide25.xml"/><Relationship Id="rId2" Type="http://schemas.openxmlformats.org/officeDocument/2006/relationships/image" Target="../media/image47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slide" Target="slide25.xml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50.png"/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" Target="slide25.xml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slide" Target="slide25.xml"/><Relationship Id="rId2" Type="http://schemas.openxmlformats.org/officeDocument/2006/relationships/image" Target="../media/image5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4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8" Type="http://schemas.openxmlformats.org/officeDocument/2006/relationships/slide" Target="slide42.xml"/><Relationship Id="rId3" Type="http://schemas.openxmlformats.org/officeDocument/2006/relationships/image" Target="../media/image56.png"/><Relationship Id="rId7" Type="http://schemas.openxmlformats.org/officeDocument/2006/relationships/slide" Target="slide41.xml"/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Relationship Id="rId6" Type="http://schemas.openxmlformats.org/officeDocument/2006/relationships/slide" Target="slide38.xml"/><Relationship Id="rId5" Type="http://schemas.openxmlformats.org/officeDocument/2006/relationships/image" Target="../media/image58.png"/><Relationship Id="rId10" Type="http://schemas.openxmlformats.org/officeDocument/2006/relationships/slide" Target="slide3.xml"/><Relationship Id="rId4" Type="http://schemas.openxmlformats.org/officeDocument/2006/relationships/image" Target="../media/image57.png"/><Relationship Id="rId9" Type="http://schemas.openxmlformats.org/officeDocument/2006/relationships/slide" Target="slide43.xml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slide" Target="slide37.xml"/><Relationship Id="rId2" Type="http://schemas.openxmlformats.org/officeDocument/2006/relationships/image" Target="../media/image59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slide" Target="slide37.xml"/><Relationship Id="rId2" Type="http://schemas.openxmlformats.org/officeDocument/2006/relationships/image" Target="../media/image60.png"/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2.png"/><Relationship Id="rId2" Type="http://schemas.openxmlformats.org/officeDocument/2006/relationships/image" Target="../media/image61.png"/><Relationship Id="rId1" Type="http://schemas.openxmlformats.org/officeDocument/2006/relationships/slideLayout" Target="../slideLayouts/slideLayout5.xml"/><Relationship Id="rId4" Type="http://schemas.openxmlformats.org/officeDocument/2006/relationships/slide" Target="slide37.xml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slide" Target="slide37.xml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slide" Target="slide37.xml"/><Relationship Id="rId2" Type="http://schemas.openxmlformats.org/officeDocument/2006/relationships/image" Target="../media/image64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slide" Target="slide37.xml"/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66.png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4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1.png"/><Relationship Id="rId2" Type="http://schemas.openxmlformats.org/officeDocument/2006/relationships/image" Target="../media/image7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 dirty="0"/>
              <a:t>Typescript</a:t>
            </a:r>
            <a:endParaRPr lang="de-DE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>
                <a:solidFill>
                  <a:schemeClr val="tx1"/>
                </a:solidFill>
              </a:rPr>
              <a:t>It’s JavaScript but not terrible</a:t>
            </a:r>
            <a:endParaRPr lang="de-DE" dirty="0">
              <a:solidFill>
                <a:schemeClr val="tx1"/>
              </a:solidFill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207390" y="-150829"/>
            <a:ext cx="518474" cy="7475456"/>
          </a:xfrm>
          <a:prstGeom prst="rect">
            <a:avLst/>
          </a:prstGeom>
          <a:solidFill>
            <a:srgbClr val="EFEDE3"/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82479512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TypeScript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 anchor="ctr"/>
          <a:lstStyle/>
          <a:p>
            <a:r>
              <a:rPr lang="de-DE" dirty="0" err="1"/>
              <a:t>OpenSource</a:t>
            </a:r>
            <a:r>
              <a:rPr lang="de-DE" dirty="0"/>
              <a:t> Project </a:t>
            </a:r>
            <a:r>
              <a:rPr lang="de-DE" dirty="0" err="1"/>
              <a:t>by</a:t>
            </a:r>
            <a:r>
              <a:rPr lang="de-DE" dirty="0"/>
              <a:t> Microsoft</a:t>
            </a:r>
          </a:p>
          <a:p>
            <a:r>
              <a:rPr lang="de-DE" dirty="0" err="1"/>
              <a:t>Compiles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JavaScript</a:t>
            </a:r>
          </a:p>
          <a:p>
            <a:pPr lvl="1"/>
            <a:r>
              <a:rPr lang="de-DE" dirty="0"/>
              <a:t>ES5 </a:t>
            </a:r>
            <a:r>
              <a:rPr lang="de-DE" dirty="0" err="1"/>
              <a:t>vs</a:t>
            </a:r>
            <a:r>
              <a:rPr lang="de-DE" dirty="0"/>
              <a:t> ES6</a:t>
            </a:r>
          </a:p>
          <a:p>
            <a:r>
              <a:rPr lang="de-DE" dirty="0" err="1"/>
              <a:t>Designed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compensate</a:t>
            </a:r>
            <a:r>
              <a:rPr lang="de-DE" dirty="0"/>
              <a:t> JS </a:t>
            </a:r>
            <a:r>
              <a:rPr lang="de-DE" dirty="0" err="1"/>
              <a:t>weaknesses</a:t>
            </a:r>
            <a:endParaRPr lang="de-DE" dirty="0"/>
          </a:p>
          <a:p>
            <a:pPr lvl="1"/>
            <a:r>
              <a:rPr lang="de-DE" dirty="0" err="1"/>
              <a:t>Static</a:t>
            </a:r>
            <a:r>
              <a:rPr lang="de-DE" dirty="0"/>
              <a:t> </a:t>
            </a:r>
            <a:r>
              <a:rPr lang="de-DE" dirty="0" err="1"/>
              <a:t>typing</a:t>
            </a:r>
            <a:endParaRPr lang="de-DE" dirty="0"/>
          </a:p>
          <a:p>
            <a:pPr lvl="1"/>
            <a:r>
              <a:rPr lang="de-DE" dirty="0"/>
              <a:t>Large </a:t>
            </a:r>
            <a:r>
              <a:rPr lang="de-DE" dirty="0" err="1"/>
              <a:t>scale</a:t>
            </a:r>
            <a:r>
              <a:rPr lang="de-DE" dirty="0"/>
              <a:t> </a:t>
            </a:r>
            <a:r>
              <a:rPr lang="de-DE" dirty="0" err="1"/>
              <a:t>applications</a:t>
            </a:r>
            <a:endParaRPr lang="de-DE" dirty="0"/>
          </a:p>
          <a:p>
            <a:r>
              <a:rPr lang="de-DE" dirty="0"/>
              <a:t>Adoption rate </a:t>
            </a:r>
            <a:r>
              <a:rPr lang="de-DE" dirty="0" err="1"/>
              <a:t>rising</a:t>
            </a:r>
            <a:r>
              <a:rPr lang="de-DE" dirty="0"/>
              <a:t> (Angular 2)</a:t>
            </a:r>
          </a:p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2173548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Overview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532360900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3FDA1A42-9D8A-4EB7-9325-9494EE2103A6}">
                    <psuz:zmPr id="{3395519D-45FF-44FF-B105-A7A5EFE13F75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9548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911C78B-51E3-4DD5-A36B-D4A7ACDEBBCE}">
                    <psuz:zmPr id="{3933968F-3311-4347-BA0B-A76EC9C87CBD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36804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AE89D0ED-BC0D-46FE-875F-397CC3B09DA4}">
                    <psuz:zmPr id="{44A75D2B-7990-40B8-82D9-B2D2AEAC7E55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340602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A2D006A-90CB-48EC-919F-8385A1939BD7}">
                    <psuz:zmPr id="{5018C5BE-94C1-4A34-88EB-52133848311C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9548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8D399660-254B-4018-8AAE-4022D3519FBC}">
                    <psuz:zmPr id="{49658197-A2DC-4105-A546-CFD444D86FCA}" transitionDur="1000">
                      <p166:blipFill xmlns:p166="http://schemas.microsoft.com/office/powerpoint/2016/6/main">
                        <a:blip r:embed="rId6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36804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767080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739641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712202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10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1767080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Picture 8">
                  <a:hlinkClick r:id="rId11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6"/>
                <a:stretch>
                  <a:fillRect/>
                </a:stretch>
              </p:blipFill>
              <p:spPr>
                <a:xfrm>
                  <a:off x="4739641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</p:spTree>
    <p:extLst>
      <p:ext uri="{BB962C8B-B14F-4D97-AF65-F5344CB8AC3E}">
        <p14:creationId xmlns:p14="http://schemas.microsoft.com/office/powerpoint/2010/main" val="40619212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Basics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082366779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181E29B0-F18C-4551-AB2A-BCD841CBADCD}">
                    <psuz:zmPr id="{8A1D9B56-1123-4529-9F5C-BCED8766C0DA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C40A588-AE5F-495D-B336-7D287693925D}">
                    <psuz:zmPr id="{20C14603-2496-4AFB-A656-02CA8269F0E2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5CAD9EE-E5D4-46A0-ACA4-47DEA4E5BB8C}">
                    <psuz:zmPr id="{B93A71BD-6C5E-454C-BF70-D93BCD63CB86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7F2CB21-DAB8-4FCD-AA54-380F6DC44B82}">
                    <psuz:zmPr id="{17D86C3E-7C52-409F-A500-B017106D9EED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253360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25921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253360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225921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8" name="TextBox 7">
            <a:hlinkClick r:id="rId10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619356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Declare variable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747220" y="3276488"/>
            <a:ext cx="8849960" cy="1600423"/>
          </a:xfrm>
          <a:prstGeom prst="rect">
            <a:avLst/>
          </a:prstGeom>
        </p:spPr>
      </p:pic>
      <p:sp>
        <p:nvSpPr>
          <p:cNvPr id="5" name="TextBox 4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92957605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http://mediad.publicbroadcasting.net/p/kuow/files/styles/x_large/public/201701/IMG_3143.jpg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52500" y="-17813"/>
            <a:ext cx="10287000" cy="68580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4" name="TextBox 3"/>
          <p:cNvSpPr txBox="1"/>
          <p:nvPr/>
        </p:nvSpPr>
        <p:spPr>
          <a:xfrm rot="21230482">
            <a:off x="3527023" y="226274"/>
            <a:ext cx="4630806" cy="3652784"/>
          </a:xfrm>
          <a:prstGeom prst="rect">
            <a:avLst/>
          </a:prstGeom>
          <a:solidFill>
            <a:schemeClr val="bg1">
              <a:lumMod val="85000"/>
            </a:schemeClr>
          </a:solidFill>
        </p:spPr>
        <p:txBody>
          <a:bodyPr wrap="square" rtlCol="0" anchor="ctr">
            <a:noAutofit/>
          </a:bodyPr>
          <a:lstStyle/>
          <a:p>
            <a:pPr algn="ctr"/>
            <a:r>
              <a:rPr lang="en-GB" sz="3600" dirty="0"/>
              <a:t>Using</a:t>
            </a:r>
          </a:p>
          <a:p>
            <a:pPr algn="ctr"/>
            <a:r>
              <a:rPr lang="en-GB" sz="8800" dirty="0"/>
              <a:t>VAR</a:t>
            </a:r>
          </a:p>
          <a:p>
            <a:pPr algn="ctr"/>
            <a:r>
              <a:rPr lang="en-GB" sz="3600" dirty="0"/>
              <a:t>is</a:t>
            </a:r>
          </a:p>
          <a:p>
            <a:pPr algn="ctr"/>
            <a:r>
              <a:rPr lang="en-GB" sz="8800" dirty="0"/>
              <a:t>FINE</a:t>
            </a:r>
            <a:endParaRPr lang="de-DE" sz="8800" dirty="0"/>
          </a:p>
        </p:txBody>
      </p:sp>
      <p:pic>
        <p:nvPicPr>
          <p:cNvPr id="1028" name="Picture 4" descr="Ähnliches Foto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 rot="21112330">
            <a:off x="3594699" y="122095"/>
            <a:ext cx="4495454" cy="449545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2796752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– </a:t>
            </a:r>
            <a:r>
              <a:rPr lang="en-GB"/>
              <a:t>Part I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anchor="ctr">
            <a:normAutofit/>
          </a:bodyPr>
          <a:lstStyle/>
          <a:p>
            <a:r>
              <a:rPr lang="en-GB" sz="2800" dirty="0"/>
              <a:t>Strings</a:t>
            </a:r>
          </a:p>
          <a:p>
            <a:r>
              <a:rPr lang="en-GB" sz="2800" dirty="0"/>
              <a:t>Boolean</a:t>
            </a:r>
          </a:p>
          <a:p>
            <a:r>
              <a:rPr lang="en-GB" sz="2800" dirty="0"/>
              <a:t>Number</a:t>
            </a:r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24625" y="2778120"/>
            <a:ext cx="4448175" cy="2597160"/>
          </a:xfrm>
          <a:prstGeom prst="rect">
            <a:avLst/>
          </a:prstGeom>
        </p:spPr>
      </p:pic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52526280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– Part II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/>
        <p:txBody>
          <a:bodyPr anchor="ctr">
            <a:normAutofit/>
          </a:bodyPr>
          <a:lstStyle/>
          <a:p>
            <a:r>
              <a:rPr lang="en-GB" sz="2800" dirty="0"/>
              <a:t>Arrays</a:t>
            </a:r>
          </a:p>
          <a:p>
            <a:r>
              <a:rPr lang="en-GB" sz="2800" dirty="0"/>
              <a:t>Tuples</a:t>
            </a:r>
          </a:p>
          <a:p>
            <a:r>
              <a:rPr lang="en-GB" sz="2800" dirty="0" err="1"/>
              <a:t>Enums</a:t>
            </a:r>
            <a:endParaRPr lang="en-GB" sz="2800" dirty="0"/>
          </a:p>
          <a:p>
            <a:r>
              <a:rPr lang="en-GB" sz="2800" dirty="0"/>
              <a:t>Any</a:t>
            </a:r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796969" y="2286000"/>
            <a:ext cx="3903486" cy="3581400"/>
          </a:xfrm>
          <a:prstGeom prst="rect">
            <a:avLst/>
          </a:prstGeom>
        </p:spPr>
      </p:pic>
      <p:sp>
        <p:nvSpPr>
          <p:cNvPr id="6" name="TextBox 5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9629543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Types – Part III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433115" y="3624199"/>
            <a:ext cx="7478169" cy="905001"/>
          </a:xfrm>
          <a:prstGeom prst="rect">
            <a:avLst/>
          </a:prstGeom>
        </p:spPr>
      </p:pic>
      <p:sp>
        <p:nvSpPr>
          <p:cNvPr id="6" name="TextBox 5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43993694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Undefined &amp; Null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3435292" cy="3581401"/>
          </a:xfrm>
        </p:spPr>
        <p:txBody>
          <a:bodyPr anchor="ctr"/>
          <a:lstStyle/>
          <a:p>
            <a:r>
              <a:rPr lang="en-GB" dirty="0"/>
              <a:t>‘undefined’ is default value for variables</a:t>
            </a:r>
          </a:p>
          <a:p>
            <a:r>
              <a:rPr lang="en-GB" dirty="0"/>
              <a:t>Functions with no return value return ‘undefined’</a:t>
            </a:r>
          </a:p>
          <a:p>
            <a:r>
              <a:rPr lang="en-GB" dirty="0"/>
              <a:t>‘null’ is explicit no-value 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806892" y="3344464"/>
            <a:ext cx="7078298" cy="1464472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97439813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Objects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2982286" cy="3581401"/>
          </a:xfrm>
        </p:spPr>
        <p:txBody>
          <a:bodyPr anchor="ctr"/>
          <a:lstStyle/>
          <a:p>
            <a:r>
              <a:rPr lang="en-GB" dirty="0"/>
              <a:t>Curly brackets</a:t>
            </a:r>
          </a:p>
          <a:p>
            <a:r>
              <a:rPr lang="en-GB" dirty="0"/>
              <a:t>Access properties with dot or brackets</a:t>
            </a:r>
          </a:p>
          <a:p>
            <a:r>
              <a:rPr lang="en-GB" dirty="0"/>
              <a:t>If type “any”: modify &amp; add properties at will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798503" y="2417084"/>
            <a:ext cx="7413858" cy="3319232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09517247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Maps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2923563" cy="3581401"/>
          </a:xfrm>
        </p:spPr>
        <p:txBody>
          <a:bodyPr anchor="ctr"/>
          <a:lstStyle/>
          <a:p>
            <a:r>
              <a:rPr lang="en-GB" dirty="0"/>
              <a:t>Actually just objects</a:t>
            </a:r>
          </a:p>
          <a:p>
            <a:r>
              <a:rPr lang="en-GB" dirty="0"/>
              <a:t>Strings or numbers can be key</a:t>
            </a:r>
          </a:p>
          <a:p>
            <a:r>
              <a:rPr lang="en-GB" dirty="0"/>
              <a:t>With ES6 nicer syntax</a:t>
            </a:r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504386" y="3246540"/>
            <a:ext cx="7632976" cy="1660320"/>
          </a:xfrm>
          <a:prstGeom prst="rect">
            <a:avLst/>
          </a:prstGeom>
        </p:spPr>
      </p:pic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4022339484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Truthy &amp; </a:t>
            </a:r>
            <a:r>
              <a:rPr lang="en-GB" dirty="0" err="1"/>
              <a:t>Falsy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3032620" cy="3581401"/>
          </a:xfrm>
        </p:spPr>
        <p:txBody>
          <a:bodyPr anchor="ctr"/>
          <a:lstStyle/>
          <a:p>
            <a:r>
              <a:rPr lang="de-DE" dirty="0"/>
              <a:t>Non-</a:t>
            </a:r>
            <a:r>
              <a:rPr lang="de-DE" dirty="0" err="1"/>
              <a:t>booleans</a:t>
            </a:r>
            <a:r>
              <a:rPr lang="de-DE" dirty="0"/>
              <a:t> </a:t>
            </a:r>
            <a:r>
              <a:rPr lang="de-DE" dirty="0" err="1"/>
              <a:t>are</a:t>
            </a:r>
            <a:r>
              <a:rPr lang="de-DE" dirty="0"/>
              <a:t> </a:t>
            </a:r>
            <a:r>
              <a:rPr lang="de-DE" dirty="0" err="1"/>
              <a:t>interpreted</a:t>
            </a:r>
            <a:r>
              <a:rPr lang="de-DE" dirty="0"/>
              <a:t> </a:t>
            </a:r>
            <a:r>
              <a:rPr lang="de-DE" dirty="0" err="1"/>
              <a:t>as</a:t>
            </a:r>
            <a:r>
              <a:rPr lang="de-DE" dirty="0"/>
              <a:t> </a:t>
            </a:r>
            <a:r>
              <a:rPr lang="de-DE" dirty="0" err="1"/>
              <a:t>booleans</a:t>
            </a:r>
            <a:endParaRPr lang="de-DE" dirty="0"/>
          </a:p>
          <a:p>
            <a:r>
              <a:rPr lang="de-DE" dirty="0" err="1"/>
              <a:t>Allow</a:t>
            </a:r>
            <a:r>
              <a:rPr lang="de-DE" dirty="0"/>
              <a:t> </a:t>
            </a:r>
            <a:r>
              <a:rPr lang="de-DE" dirty="0" err="1"/>
              <a:t>for</a:t>
            </a:r>
            <a:r>
              <a:rPr lang="de-DE" dirty="0"/>
              <a:t> simple </a:t>
            </a:r>
            <a:r>
              <a:rPr lang="de-DE" dirty="0" err="1"/>
              <a:t>undefined</a:t>
            </a:r>
            <a:r>
              <a:rPr lang="de-DE" dirty="0"/>
              <a:t>/null </a:t>
            </a:r>
            <a:r>
              <a:rPr lang="de-DE" dirty="0" err="1"/>
              <a:t>checks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be</a:t>
            </a:r>
            <a:r>
              <a:rPr lang="de-DE" dirty="0"/>
              <a:t> </a:t>
            </a:r>
            <a:r>
              <a:rPr lang="de-DE" dirty="0" err="1"/>
              <a:t>converted</a:t>
            </a:r>
            <a:r>
              <a:rPr lang="de-DE" dirty="0"/>
              <a:t> </a:t>
            </a:r>
            <a:r>
              <a:rPr lang="de-DE" dirty="0" err="1"/>
              <a:t>to</a:t>
            </a:r>
            <a:r>
              <a:rPr lang="de-DE" dirty="0"/>
              <a:t> </a:t>
            </a:r>
            <a:r>
              <a:rPr lang="de-DE" dirty="0" err="1"/>
              <a:t>boolean</a:t>
            </a:r>
            <a:r>
              <a:rPr lang="de-DE" dirty="0"/>
              <a:t> </a:t>
            </a:r>
            <a:r>
              <a:rPr lang="de-DE" dirty="0" err="1"/>
              <a:t>by</a:t>
            </a:r>
            <a:r>
              <a:rPr lang="de-DE" dirty="0"/>
              <a:t> double </a:t>
            </a:r>
            <a:r>
              <a:rPr lang="de-DE" dirty="0" err="1"/>
              <a:t>negation</a:t>
            </a:r>
            <a:r>
              <a:rPr lang="de-DE" dirty="0"/>
              <a:t> (‚!!‘)</a:t>
            </a:r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513458" y="2617366"/>
            <a:ext cx="7598054" cy="2918666"/>
          </a:xfrm>
          <a:prstGeom prst="rect">
            <a:avLst/>
          </a:prstGeom>
        </p:spPr>
      </p:pic>
      <p:sp>
        <p:nvSpPr>
          <p:cNvPr id="7" name="TextBox 6">
            <a:hlinkClick r:id="rId3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Basics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600216017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680427892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3910ABA5-024F-44BF-BAB4-0E6816D359A1}">
                    <psuz:zmPr id="{1A673881-454C-473C-8982-18DAE9210704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72046" y="980599"/>
                          <a:ext cx="2880360" cy="16202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B858D946-C53A-4708-B422-12CE0E78A702}">
                    <psuz:zmPr id="{57F2157F-1F6A-4DFC-84BC-EE6B2C3BEDFA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360420" y="980599"/>
                          <a:ext cx="2880360" cy="16202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F0BA19BB-1530-418C-AB6F-FB3A325142B5}">
                    <psuz:zmPr id="{A7D8398C-71BB-45B7-8E8F-E01F01D55EF3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6348794" y="980599"/>
                          <a:ext cx="2880360" cy="16202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743646" y="3266599"/>
                  <a:ext cx="2880360" cy="16202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4732020" y="3266599"/>
                  <a:ext cx="2880360" cy="16202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7720394" y="3266599"/>
                  <a:ext cx="2880360" cy="16202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7" name="TextBox 6">
            <a:hlinkClick r:id="rId8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6333946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Boolean Expressions</a:t>
            </a:r>
            <a:endParaRPr lang="de-DE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371600" y="2285999"/>
            <a:ext cx="3032620" cy="3581401"/>
          </a:xfrm>
        </p:spPr>
        <p:txBody>
          <a:bodyPr anchor="ctr"/>
          <a:lstStyle/>
          <a:p>
            <a:r>
              <a:rPr lang="en-GB" dirty="0"/>
              <a:t>Triple equal checks!</a:t>
            </a:r>
          </a:p>
          <a:p>
            <a:r>
              <a:rPr lang="en-GB" dirty="0"/>
              <a:t>Boolean expressions can return non-Boolean values</a:t>
            </a:r>
          </a:p>
          <a:p>
            <a:endParaRPr lang="de-DE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4258970" y="2038526"/>
            <a:ext cx="7922472" cy="4076348"/>
          </a:xfrm>
          <a:prstGeom prst="rect">
            <a:avLst/>
          </a:prstGeom>
        </p:spPr>
      </p:pic>
      <p:sp>
        <p:nvSpPr>
          <p:cNvPr id="6" name="TextBox 5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26642450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</a:t>
            </a:r>
            <a:endParaRPr lang="de-DE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Increment/Decrement</a:t>
            </a:r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2564463" y="3781312"/>
            <a:ext cx="2057687" cy="1609950"/>
          </a:xfrm>
          <a:prstGeom prst="rect">
            <a:avLst/>
          </a:prstGeom>
        </p:spPr>
      </p:pic>
      <p:sp>
        <p:nvSpPr>
          <p:cNvPr id="11" name="Text Placeholder 10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Swap Variables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524625" y="3969430"/>
            <a:ext cx="4445000" cy="1233714"/>
          </a:xfrm>
          <a:prstGeom prst="rect">
            <a:avLst/>
          </a:prstGeom>
        </p:spPr>
      </p:pic>
      <p:sp>
        <p:nvSpPr>
          <p:cNvPr id="13" name="TextBox 12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105346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</a:t>
            </a:r>
            <a:endParaRPr lang="de-DE" dirty="0"/>
          </a:p>
        </p:txBody>
      </p:sp>
      <p:sp>
        <p:nvSpPr>
          <p:cNvPr id="10" name="Text Placeholder 9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If-else</a:t>
            </a:r>
            <a:endParaRPr lang="de-DE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435593" y="4014707"/>
            <a:ext cx="4315427" cy="1143160"/>
          </a:xfrm>
          <a:prstGeom prst="rect">
            <a:avLst/>
          </a:prstGeom>
        </p:spPr>
      </p:pic>
      <p:sp>
        <p:nvSpPr>
          <p:cNvPr id="11" name="Text Placeholder 10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rPr lang="en-GB" dirty="0"/>
              <a:t>Ternary operator</a:t>
            </a:r>
            <a:endParaRPr lang="de-DE" dirty="0"/>
          </a:p>
        </p:txBody>
      </p:sp>
      <p:pic>
        <p:nvPicPr>
          <p:cNvPr id="14" name="Content Placeholder 13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6979991" y="4090918"/>
            <a:ext cx="3534268" cy="990738"/>
          </a:xfrm>
          <a:prstGeom prst="rect">
            <a:avLst/>
          </a:prstGeom>
        </p:spPr>
      </p:pic>
      <p:sp>
        <p:nvSpPr>
          <p:cNvPr id="15" name="TextBox 14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143716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8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III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4798380" cy="3581400"/>
          </a:xfrm>
          <a:prstGeom prst="rect">
            <a:avLst/>
          </a:prstGeom>
        </p:spPr>
      </p:pic>
      <p:sp>
        <p:nvSpPr>
          <p:cNvPr id="13" name="TextBox 12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9455747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Loops</a:t>
            </a:r>
            <a:endParaRPr lang="de-DE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1029" y="1829135"/>
            <a:ext cx="4443984" cy="823912"/>
          </a:xfrm>
        </p:spPr>
        <p:txBody>
          <a:bodyPr/>
          <a:lstStyle/>
          <a:p>
            <a:r>
              <a:rPr lang="en-GB" dirty="0"/>
              <a:t>For</a:t>
            </a:r>
            <a:endParaRPr lang="de-DE" dirty="0"/>
          </a:p>
        </p:txBody>
      </p:sp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1600" y="3705326"/>
            <a:ext cx="4443413" cy="1761922"/>
          </a:xfrm>
          <a:prstGeom prst="rect">
            <a:avLst/>
          </a:prstGeom>
        </p:spPr>
      </p:pic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525014" y="1829135"/>
            <a:ext cx="4443984" cy="823912"/>
          </a:xfrm>
        </p:spPr>
        <p:txBody>
          <a:bodyPr/>
          <a:lstStyle/>
          <a:p>
            <a:r>
              <a:rPr lang="en-GB" dirty="0"/>
              <a:t>While</a:t>
            </a:r>
            <a:endParaRPr lang="de-DE" dirty="0"/>
          </a:p>
        </p:txBody>
      </p:sp>
      <p:pic>
        <p:nvPicPr>
          <p:cNvPr id="9" name="Content Placeholder 8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7056201" y="3333575"/>
            <a:ext cx="3381847" cy="2505425"/>
          </a:xfrm>
          <a:prstGeom prst="rect">
            <a:avLst/>
          </a:prstGeom>
        </p:spPr>
      </p:pic>
      <p:sp>
        <p:nvSpPr>
          <p:cNvPr id="10" name="TextBox 9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Operations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95921126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Object oriented programming	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5" name="Summary Zoom 4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982935975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1F34B62B-A216-477C-B3CB-127D7BAB8C5F}">
                    <psuz:zmPr id="{94413019-833C-4F41-AF88-A1B53BDC9149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399050" y="575549"/>
                          <a:ext cx="4320540" cy="24303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C5D8CD8D-8FD5-4EEC-86B2-3A92DC7DA6DA}">
                    <psuz:zmPr id="{E34F02DA-37B5-4054-82B1-B5AC3EDF6312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81610" y="575549"/>
                          <a:ext cx="4320540" cy="2430303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5" name="Summary Zoom 4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4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1770650" y="2861549"/>
                  <a:ext cx="4320540" cy="24303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4" name="Picture 4">
                  <a:hlinkClick r:id="rId5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53210" y="2861549"/>
                  <a:ext cx="4320540" cy="2430303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6" name="TextBox 5">
            <a:hlinkClick r:id="rId6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3028637363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Classes &amp; features</a:t>
            </a:r>
            <a:endParaRPr lang="de-DE" dirty="0"/>
          </a:p>
        </p:txBody>
      </p:sp>
      <p:sp>
        <p:nvSpPr>
          <p:cNvPr id="7" name="Content Placeholder 6"/>
          <p:cNvSpPr>
            <a:spLocks noGrp="1"/>
          </p:cNvSpPr>
          <p:nvPr>
            <p:ph sz="half" idx="1"/>
          </p:nvPr>
        </p:nvSpPr>
        <p:spPr>
          <a:xfrm>
            <a:off x="1371600" y="1772133"/>
            <a:ext cx="4447786" cy="3581401"/>
          </a:xfrm>
        </p:spPr>
        <p:txBody>
          <a:bodyPr anchor="ctr"/>
          <a:lstStyle/>
          <a:p>
            <a:r>
              <a:rPr lang="en-GB" dirty="0"/>
              <a:t>Inheritance</a:t>
            </a:r>
          </a:p>
          <a:p>
            <a:r>
              <a:rPr lang="en-GB" dirty="0"/>
              <a:t>Access restriction (private, public &amp; protected)</a:t>
            </a:r>
          </a:p>
          <a:p>
            <a:r>
              <a:rPr lang="en-GB" dirty="0"/>
              <a:t>Abstract classes, abstract methods</a:t>
            </a:r>
            <a:endParaRPr lang="de-DE" dirty="0"/>
          </a:p>
        </p:txBody>
      </p:sp>
      <p:pic>
        <p:nvPicPr>
          <p:cNvPr id="10" name="Content Placeholder 9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6524625" y="2440023"/>
            <a:ext cx="4448175" cy="2245620"/>
          </a:xfrm>
          <a:prstGeom prst="rect">
            <a:avLst/>
          </a:prstGeom>
        </p:spPr>
      </p:pic>
      <p:sp>
        <p:nvSpPr>
          <p:cNvPr id="9" name="TextBox 8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052358" y="5507559"/>
            <a:ext cx="8239295" cy="94827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5555329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Getter &amp; Setter</a:t>
            </a:r>
            <a:endParaRPr lang="de-DE" dirty="0"/>
          </a:p>
        </p:txBody>
      </p:sp>
      <p:pic>
        <p:nvPicPr>
          <p:cNvPr id="11" name="Content Placeholder 10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514169"/>
            <a:ext cx="4448175" cy="3125062"/>
          </a:xfrm>
          <a:prstGeom prst="rect">
            <a:avLst/>
          </a:prstGeom>
        </p:spPr>
      </p:pic>
      <p:pic>
        <p:nvPicPr>
          <p:cNvPr id="13" name="Content Placeholder 12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56701" y="2286000"/>
            <a:ext cx="4384023" cy="3581400"/>
          </a:xfrm>
          <a:prstGeom prst="rect">
            <a:avLst/>
          </a:prstGeom>
        </p:spPr>
      </p:pic>
      <p:sp>
        <p:nvSpPr>
          <p:cNvPr id="16" name="TextBox 15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695883987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Class - Getter &amp; Setter</a:t>
            </a:r>
            <a:endParaRPr lang="de-DE" dirty="0"/>
          </a:p>
        </p:txBody>
      </p:sp>
      <p:pic>
        <p:nvPicPr>
          <p:cNvPr id="5" name="Content Placeholder 4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496250"/>
            <a:ext cx="4448175" cy="3160900"/>
          </a:xfrm>
          <a:prstGeom prst="rect">
            <a:avLst/>
          </a:prstGeom>
        </p:spPr>
      </p:pic>
      <p:pic>
        <p:nvPicPr>
          <p:cNvPr id="6" name="Content Placeholder 5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24625" y="3500602"/>
            <a:ext cx="4448175" cy="1152195"/>
          </a:xfrm>
          <a:prstGeom prst="rect">
            <a:avLst/>
          </a:prstGeom>
        </p:spPr>
      </p:pic>
      <p:sp>
        <p:nvSpPr>
          <p:cNvPr id="9" name="TextBox 8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686037847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Interface</a:t>
            </a:r>
            <a:endParaRPr lang="de-DE" dirty="0"/>
          </a:p>
        </p:txBody>
      </p:sp>
      <p:pic>
        <p:nvPicPr>
          <p:cNvPr id="13" name="Content Placeholder 1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143125" y="2286000"/>
            <a:ext cx="8058149" cy="3581400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OOP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531439091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Functions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4" name="Content Placeholder 3"/>
              <p:cNvGraphicFramePr>
                <a:graphicFrameLocks noGrp="1" noChangeAspect="1"/>
              </p:cNvGraphicFramePr>
              <p:nvPr>
                <p:ph idx="1"/>
                <p:extLst>
                  <p:ext uri="{D42A27DB-BD31-4B8C-83A1-F6EECF244321}">
                    <p14:modId xmlns:p14="http://schemas.microsoft.com/office/powerpoint/2010/main" val="1563637907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7E4CB3D5-4115-4DA7-96C8-D3B2B1B3D791}">
                    <psuz:zmPr id="{18EF9BCE-5C96-49FC-B82B-5BB799392BA4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93DEBB8D-ECA1-4F89-BB41-46DAD797472D}">
                    <psuz:zmPr id="{64892CAE-9F5F-467F-851C-C157164CC5BD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8599694B-A55B-4BD9-9ACA-F632C7D1925D}">
                    <psuz:zmPr id="{37848C8E-0DA1-4315-94EF-C3993237CB29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106C052C-0C44-4E41-9330-8FE4C9B1E510}">
                    <psuz:zmPr id="{3B7F634A-F2D0-455C-AC4B-20719AD8BF30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4" name="Content Placeholder 3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  <p:pic>
              <p:nvPicPr>
                <p:cNvPr id="3" name="Picture 3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253360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5" name="Picture 5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225921" y="24113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6" name="Picture 6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253360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225921" y="41304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8" name="TextBox 7">
            <a:hlinkClick r:id="rId10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2647437413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Syntax 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2562137"/>
            <a:ext cx="4448175" cy="3029125"/>
          </a:xfrm>
          <a:prstGeom prst="rect">
            <a:avLst/>
          </a:prstGeom>
        </p:spPr>
      </p:pic>
      <p:pic>
        <p:nvPicPr>
          <p:cNvPr id="11" name="Content Placeholder 10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24625" y="3527176"/>
            <a:ext cx="4448175" cy="1099048"/>
          </a:xfrm>
          <a:prstGeom prst="rect">
            <a:avLst/>
          </a:prstGeom>
        </p:spPr>
      </p:pic>
      <p:sp>
        <p:nvSpPr>
          <p:cNvPr id="15" name="TextBox 14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46188592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Immediately invoked functions </a:t>
            </a:r>
            <a:endParaRPr lang="de-DE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4066881" y="3252672"/>
            <a:ext cx="4210638" cy="1648055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85796630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Typing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1" y="2171700"/>
            <a:ext cx="10691604" cy="1818586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sp>
        <p:nvSpPr>
          <p:cNvPr id="5" name="TextBox 4"/>
          <p:cNvSpPr txBox="1"/>
          <p:nvPr/>
        </p:nvSpPr>
        <p:spPr>
          <a:xfrm>
            <a:off x="1916804" y="5216556"/>
            <a:ext cx="1484722" cy="369332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Variable</a:t>
            </a:r>
            <a:endParaRPr lang="de-DE" dirty="0"/>
          </a:p>
        </p:txBody>
      </p:sp>
      <p:sp>
        <p:nvSpPr>
          <p:cNvPr id="8" name="TextBox 7"/>
          <p:cNvSpPr txBox="1"/>
          <p:nvPr/>
        </p:nvSpPr>
        <p:spPr>
          <a:xfrm>
            <a:off x="1916804" y="5698894"/>
            <a:ext cx="1484722" cy="369332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Function</a:t>
            </a:r>
            <a:endParaRPr lang="de-DE" dirty="0"/>
          </a:p>
        </p:txBody>
      </p:sp>
      <p:sp>
        <p:nvSpPr>
          <p:cNvPr id="9" name="TextBox 8"/>
          <p:cNvSpPr txBox="1"/>
          <p:nvPr/>
        </p:nvSpPr>
        <p:spPr>
          <a:xfrm>
            <a:off x="1371600" y="2213427"/>
            <a:ext cx="9825891" cy="307777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1" name="TextBox 10"/>
          <p:cNvSpPr txBox="1"/>
          <p:nvPr/>
        </p:nvSpPr>
        <p:spPr>
          <a:xfrm>
            <a:off x="1371600" y="3066245"/>
            <a:ext cx="8249023" cy="307777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2" name="TextBox 11"/>
          <p:cNvSpPr txBox="1"/>
          <p:nvPr/>
        </p:nvSpPr>
        <p:spPr>
          <a:xfrm>
            <a:off x="1371601" y="3671302"/>
            <a:ext cx="1697728" cy="307777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3" name="TextBox 12"/>
          <p:cNvSpPr txBox="1"/>
          <p:nvPr/>
        </p:nvSpPr>
        <p:spPr>
          <a:xfrm>
            <a:off x="1908005" y="2521204"/>
            <a:ext cx="5548537" cy="307777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4" name="TextBox 13"/>
          <p:cNvSpPr txBox="1"/>
          <p:nvPr/>
        </p:nvSpPr>
        <p:spPr>
          <a:xfrm>
            <a:off x="3401526" y="3665348"/>
            <a:ext cx="5497102" cy="307777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  <p:sp>
        <p:nvSpPr>
          <p:cNvPr id="16" name="TextBox 15"/>
          <p:cNvSpPr txBox="1"/>
          <p:nvPr/>
        </p:nvSpPr>
        <p:spPr>
          <a:xfrm>
            <a:off x="9974953" y="3066244"/>
            <a:ext cx="2088252" cy="307777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sz="1400" dirty="0"/>
          </a:p>
        </p:txBody>
      </p:sp>
    </p:spTree>
    <p:extLst>
      <p:ext uri="{BB962C8B-B14F-4D97-AF65-F5344CB8AC3E}">
        <p14:creationId xmlns:p14="http://schemas.microsoft.com/office/powerpoint/2010/main" val="20020117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8" grpId="0" animBg="1"/>
      <p:bldP spid="9" grpId="0" animBg="1"/>
      <p:bldP spid="11" grpId="0" animBg="1"/>
      <p:bldP spid="12" grpId="0" animBg="1"/>
      <p:bldP spid="13" grpId="0" animBg="1"/>
      <p:bldP spid="14" grpId="0" animBg="1"/>
      <p:bldP spid="16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Higher Order Function</a:t>
            </a:r>
            <a:endParaRPr lang="de-DE" dirty="0"/>
          </a:p>
        </p:txBody>
      </p:sp>
      <p:sp>
        <p:nvSpPr>
          <p:cNvPr id="15" name="TextBox 14">
            <a:hlinkClick r:id="rId2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3"/>
          <a:stretch>
            <a:fillRect/>
          </a:stretch>
        </p:blipFill>
        <p:spPr>
          <a:xfrm>
            <a:off x="1371600" y="3186166"/>
            <a:ext cx="9601200" cy="17810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0997984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57324" y="342900"/>
            <a:ext cx="10058401" cy="1514476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Exercise: Fibonacci I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1457325" y="1981200"/>
            <a:ext cx="8920671" cy="3378452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/>
              <a:t>Write a recursive Fibonacci function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/>
              <a:t>Typed!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/>
              <a:t>Extra challenge: Make it tail recursive</a:t>
            </a:r>
            <a:endParaRPr lang="de-DE" dirty="0"/>
          </a:p>
          <a:p>
            <a:pPr marL="342900" indent="-342900" algn="l">
              <a:buFont typeface="Wingdings" panose="05000000000000000000" pitchFamily="2" charset="2"/>
              <a:buChar char="§"/>
            </a:pP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154428956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Exercise: Fibonacci I</a:t>
            </a:r>
            <a:endParaRPr lang="de-D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71700"/>
            <a:ext cx="10801350" cy="32456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1371600" y="3288268"/>
            <a:ext cx="1990724" cy="369332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Function Body</a:t>
            </a:r>
            <a:endParaRPr lang="de-DE" dirty="0"/>
          </a:p>
        </p:txBody>
      </p:sp>
      <p:sp>
        <p:nvSpPr>
          <p:cNvPr id="6" name="TextBox 5"/>
          <p:cNvSpPr txBox="1"/>
          <p:nvPr/>
        </p:nvSpPr>
        <p:spPr>
          <a:xfrm>
            <a:off x="7162800" y="2126936"/>
            <a:ext cx="5043487" cy="369332"/>
          </a:xfrm>
          <a:prstGeom prst="rect">
            <a:avLst/>
          </a:prstGeom>
          <a:solidFill>
            <a:srgbClr val="92D05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sp>
        <p:nvSpPr>
          <p:cNvPr id="7" name="TextBox 6"/>
          <p:cNvSpPr txBox="1"/>
          <p:nvPr/>
        </p:nvSpPr>
        <p:spPr>
          <a:xfrm>
            <a:off x="1371600" y="2805930"/>
            <a:ext cx="1484722" cy="369332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r>
              <a:rPr lang="en-GB" dirty="0"/>
              <a:t>Parameters</a:t>
            </a:r>
            <a:endParaRPr lang="de-DE" dirty="0"/>
          </a:p>
        </p:txBody>
      </p:sp>
      <p:sp>
        <p:nvSpPr>
          <p:cNvPr id="8" name="TextBox 7"/>
          <p:cNvSpPr txBox="1"/>
          <p:nvPr/>
        </p:nvSpPr>
        <p:spPr>
          <a:xfrm>
            <a:off x="3589747" y="2126936"/>
            <a:ext cx="3125377" cy="369332"/>
          </a:xfrm>
          <a:prstGeom prst="rect">
            <a:avLst/>
          </a:prstGeom>
          <a:solidFill>
            <a:srgbClr val="FFFF00">
              <a:alpha val="25000"/>
            </a:srgbClr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  <p:pic>
        <p:nvPicPr>
          <p:cNvPr id="9" name="Picture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4449600"/>
            <a:ext cx="4990244" cy="3022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52781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  <p:bldP spid="6" grpId="0" animBg="1"/>
      <p:bldP spid="7" grpId="0" animBg="1"/>
      <p:bldP spid="8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Rest Parameters</a:t>
            </a:r>
            <a:endParaRPr lang="de-DE" dirty="0"/>
          </a:p>
        </p:txBody>
      </p:sp>
      <p:pic>
        <p:nvPicPr>
          <p:cNvPr id="14" name="Content Placeholder 1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97100"/>
            <a:ext cx="9601200" cy="1296008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sp>
        <p:nvSpPr>
          <p:cNvPr id="9" name="TextBox 8"/>
          <p:cNvSpPr txBox="1"/>
          <p:nvPr/>
        </p:nvSpPr>
        <p:spPr>
          <a:xfrm>
            <a:off x="7831455" y="2171700"/>
            <a:ext cx="2667000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  <p:sp>
        <p:nvSpPr>
          <p:cNvPr id="11" name="TextBox 10"/>
          <p:cNvSpPr txBox="1"/>
          <p:nvPr/>
        </p:nvSpPr>
        <p:spPr>
          <a:xfrm>
            <a:off x="4953000" y="2954543"/>
            <a:ext cx="2240280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218228847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" grpId="0" animBg="1"/>
      <p:bldP spid="1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Optional Parameters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10325194" cy="2422538"/>
          </a:xfrm>
          <a:prstGeom prst="rect">
            <a:avLst/>
          </a:prstGeom>
        </p:spPr>
      </p:pic>
      <p:sp>
        <p:nvSpPr>
          <p:cNvPr id="8" name="TextBox 7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Functions</a:t>
            </a:r>
            <a:endParaRPr lang="de-DE" dirty="0"/>
          </a:p>
        </p:txBody>
      </p:sp>
      <p:sp>
        <p:nvSpPr>
          <p:cNvPr id="10" name="TextBox 9"/>
          <p:cNvSpPr txBox="1"/>
          <p:nvPr/>
        </p:nvSpPr>
        <p:spPr>
          <a:xfrm>
            <a:off x="3514725" y="2171700"/>
            <a:ext cx="1673225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  <p:sp>
        <p:nvSpPr>
          <p:cNvPr id="11" name="TextBox 10"/>
          <p:cNvSpPr txBox="1"/>
          <p:nvPr/>
        </p:nvSpPr>
        <p:spPr>
          <a:xfrm>
            <a:off x="5373083" y="3759871"/>
            <a:ext cx="2640618" cy="261610"/>
          </a:xfrm>
          <a:prstGeom prst="rect">
            <a:avLst/>
          </a:prstGeom>
          <a:solidFill>
            <a:schemeClr val="tx2">
              <a:lumMod val="50000"/>
              <a:lumOff val="50000"/>
              <a:alpha val="25000"/>
            </a:schemeClr>
          </a:solidFill>
        </p:spPr>
        <p:txBody>
          <a:bodyPr wrap="square" rtlCol="0">
            <a:spAutoFit/>
          </a:bodyPr>
          <a:lstStyle/>
          <a:p>
            <a:endParaRPr lang="de-DE" sz="1100" dirty="0"/>
          </a:p>
        </p:txBody>
      </p:sp>
    </p:spTree>
    <p:extLst>
      <p:ext uri="{BB962C8B-B14F-4D97-AF65-F5344CB8AC3E}">
        <p14:creationId xmlns:p14="http://schemas.microsoft.com/office/powerpoint/2010/main" val="235390784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Lazy Generators (ES6 only!)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8497486" cy="35247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25353720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1457324" y="342900"/>
            <a:ext cx="9515476" cy="1514476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Exercise: Fibonacci II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1457325" y="1981200"/>
            <a:ext cx="8920671" cy="3378452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/>
              <a:t>Write a Fibonacci generator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476563899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Exercise: Fibonacci II</a:t>
            </a:r>
            <a:endParaRPr lang="de-DE" dirty="0"/>
          </a:p>
        </p:txBody>
      </p:sp>
      <p:pic>
        <p:nvPicPr>
          <p:cNvPr id="15" name="Content Placeholder 14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9601200" cy="30009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3077369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Arrays</a:t>
            </a:r>
            <a:endParaRPr lang="de-DE" dirty="0"/>
          </a:p>
        </p:txBody>
      </p:sp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4" name="Summary Zoom 3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43602497"/>
                  </p:ext>
                </p:extLst>
              </p:nvPr>
            </p:nvGraphicFramePr>
            <p:xfrm>
              <a:off x="1371600" y="2286000"/>
              <a:ext cx="9601200" cy="3581400"/>
            </p:xfrm>
            <a:graphic>
              <a:graphicData uri="http://schemas.microsoft.com/office/powerpoint/2016/summaryzoom">
                <psuz:summaryZm>
                  <psuz:gridLayout/>
                </psuz:summaryZm>
              </a:graphicData>
            </a:graphic>
          </p:graphicFrame>
        </mc:Choice>
        <mc:Fallback>
          <p:grpSp>
            <p:nvGrpSpPr>
              <p:cNvPr id="4" name="Summary Zoom 3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371600" y="2286000"/>
                <a:ext cx="9601200" cy="3581400"/>
                <a:chOff x="1371600" y="2286000"/>
                <a:chExt cx="9601200" cy="3581400"/>
              </a:xfrm>
            </p:grpSpPr>
          </p:grpSp>
        </mc:Fallback>
      </mc:AlternateContent>
      <mc:AlternateContent xmlns:mc="http://schemas.openxmlformats.org/markup-compatibility/2006">
        <mc:Choice xmlns:psuz="http://schemas.microsoft.com/office/powerpoint/2016/summaryzoom" Requires="psuz">
          <p:graphicFrame>
            <p:nvGraphicFramePr>
              <p:cNvPr id="6" name="Summary Zoom 5"/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544437671"/>
                  </p:ext>
                </p:extLst>
              </p:nvPr>
            </p:nvGraphicFramePr>
            <p:xfrm>
              <a:off x="1524000" y="2438400"/>
              <a:ext cx="9601200" cy="3581400"/>
            </p:xfrm>
            <a:graphic>
              <a:graphicData uri="http://schemas.microsoft.com/office/powerpoint/2016/summaryzoom">
                <psuz:summaryZm>
                  <psuz:summaryZmObj sectionId="{53560B42-0755-411A-BE43-64585385B195}">
                    <psuz:zmPr id="{AB19A1AA-591D-4187-99D4-102F97917EF3}" transitionDur="1000">
                      <p166:blipFill xmlns:p166="http://schemas.microsoft.com/office/powerpoint/2016/6/main">
                        <a:blip r:embed="rId2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D9040914-A825-45D3-A1B0-0F1F7B6DAA89}">
                    <psuz:zmPr id="{921CADEE-4E7C-4885-8ABA-8AE4388CBB01}" transitionDur="1000">
                      <p166:blipFill xmlns:p166="http://schemas.microsoft.com/office/powerpoint/2016/6/main">
                        <a:blip r:embed="rId3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25349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37FABDBF-9C64-496D-BE49-D1455AB6FE36}">
                    <psuz:zmPr id="{0617311C-47D8-4946-91F0-0C916FB7A06E}" transitionDur="1000">
                      <p166:blipFill xmlns:p166="http://schemas.microsoft.com/office/powerpoint/2016/6/main">
                        <a:blip r:embed="rId4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1881760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summaryZmObj sectionId="{5FA8F333-0FFA-49E3-B70B-F988FB93C4CF}">
                    <psuz:zmPr id="{ED23CA34-9D93-4B5B-A1FD-5B8846D8798B}" transitionDur="1000">
                      <p166:blipFill xmlns:p166="http://schemas.microsoft.com/office/powerpoint/2016/6/main">
                        <a:blip r:embed="rId5"/>
                        <a:stretch>
                          <a:fillRect/>
                        </a:stretch>
                      </p166:blipFill>
                      <p166:spPr xmlns:p166="http://schemas.microsoft.com/office/powerpoint/2016/6/main">
                        <a:xfrm>
                          <a:off x="4854321" y="1844421"/>
                          <a:ext cx="2865119" cy="1611630"/>
                        </a:xfrm>
                        <a:prstGeom prst="rect">
                          <a:avLst/>
                        </a:prstGeom>
                        <a:ln w="3175">
                          <a:solidFill>
                            <a:prstClr val="ltGray"/>
                          </a:solidFill>
                        </a:ln>
                      </p166:spPr>
                    </psuz:zmPr>
                  </psuz:summaryZmObj>
                  <psuz:gridLayout/>
                </psuz:summaryZm>
              </a:graphicData>
            </a:graphic>
          </p:graphicFrame>
        </mc:Choice>
        <mc:Fallback>
          <p:grpSp>
            <p:nvGrpSpPr>
              <p:cNvPr id="6" name="Summary Zoom 5"/>
              <p:cNvGrpSpPr>
                <a:grpSpLocks noGrp="1" noUngrp="1" noRot="1" noChangeAspect="1" noMove="1" noResize="1"/>
              </p:cNvGrpSpPr>
              <p:nvPr/>
            </p:nvGrpSpPr>
            <p:grpSpPr>
              <a:xfrm>
                <a:off x="1524000" y="2438400"/>
                <a:ext cx="9601200" cy="3581400"/>
                <a:chOff x="1524000" y="2438400"/>
                <a:chExt cx="9601200" cy="3581400"/>
              </a:xfrm>
            </p:grpSpPr>
            <p:pic>
              <p:nvPicPr>
                <p:cNvPr id="3" name="Picture 3">
                  <a:hlinkClick r:id="rId6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2"/>
                <a:stretch>
                  <a:fillRect/>
                </a:stretch>
              </p:blipFill>
              <p:spPr>
                <a:xfrm>
                  <a:off x="3405760" y="25637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5" name="Picture 5">
                  <a:hlinkClick r:id="rId7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3"/>
                <a:stretch>
                  <a:fillRect/>
                </a:stretch>
              </p:blipFill>
              <p:spPr>
                <a:xfrm>
                  <a:off x="6378321" y="2563749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7" name="Picture 7">
                  <a:hlinkClick r:id="rId8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4"/>
                <a:stretch>
                  <a:fillRect/>
                </a:stretch>
              </p:blipFill>
              <p:spPr>
                <a:xfrm>
                  <a:off x="3405760" y="42828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  <p:pic>
              <p:nvPicPr>
                <p:cNvPr id="8" name="Picture 8">
                  <a:hlinkClick r:id="rId9" action="ppaction://hlinksldjump"/>
                </p:cNvPr>
                <p:cNvPicPr>
                  <a:picLocks noSelect="1" noRot="1" noChangeAspect="1" noMove="1" noResize="1" noEditPoints="1" noAdjustHandles="1" noChangeArrowheads="1" noChangeShapeType="1"/>
                </p:cNvPicPr>
                <p:nvPr/>
              </p:nvPicPr>
              <p:blipFill>
                <a:blip r:embed="rId5"/>
                <a:stretch>
                  <a:fillRect/>
                </a:stretch>
              </p:blipFill>
              <p:spPr>
                <a:xfrm>
                  <a:off x="6378321" y="4282821"/>
                  <a:ext cx="2865119" cy="1611630"/>
                </a:xfrm>
                <a:prstGeom prst="rect">
                  <a:avLst/>
                </a:prstGeom>
                <a:ln w="3175">
                  <a:solidFill>
                    <a:prstClr val="ltGray"/>
                  </a:solidFill>
                </a:ln>
              </p:spPr>
            </p:pic>
          </p:grpSp>
        </mc:Fallback>
      </mc:AlternateContent>
      <p:sp>
        <p:nvSpPr>
          <p:cNvPr id="9" name="TextBox 8">
            <a:hlinkClick r:id="rId10" action="ppaction://hlinksldjump"/>
          </p:cNvPr>
          <p:cNvSpPr txBox="1"/>
          <p:nvPr/>
        </p:nvSpPr>
        <p:spPr>
          <a:xfrm>
            <a:off x="712521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Overview</a:t>
            </a: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4072313701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</a:t>
            </a:r>
            <a:endParaRPr lang="de-DE" dirty="0"/>
          </a:p>
        </p:txBody>
      </p:sp>
      <p:pic>
        <p:nvPicPr>
          <p:cNvPr id="16" name="Content Placeholder 15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10319882" cy="3250496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3113221104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</a:t>
            </a:r>
            <a:endParaRPr lang="de-DE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7739506" cy="2857502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947775739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Operations – Part III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1371600" y="1905000"/>
            <a:ext cx="4443984" cy="616839"/>
          </a:xfrm>
        </p:spPr>
        <p:txBody>
          <a:bodyPr/>
          <a:lstStyle/>
          <a:p>
            <a:r>
              <a:rPr lang="en-GB" dirty="0"/>
              <a:t>Spread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sz="half" idx="2"/>
          </p:nvPr>
        </p:nvPicPr>
        <p:blipFill>
          <a:blip r:embed="rId2"/>
          <a:stretch>
            <a:fillRect/>
          </a:stretch>
        </p:blipFill>
        <p:spPr>
          <a:xfrm>
            <a:off x="1371599" y="2521839"/>
            <a:ext cx="7136095" cy="1116747"/>
          </a:xfrm>
          <a:prstGeom prst="rect">
            <a:avLst/>
          </a:prstGeom>
        </p:spPr>
      </p:pic>
      <p:sp>
        <p:nvSpPr>
          <p:cNvPr id="6" name="Text Placeholder 5"/>
          <p:cNvSpPr>
            <a:spLocks noGrp="1"/>
          </p:cNvSpPr>
          <p:nvPr>
            <p:ph type="body" sz="quarter" idx="3"/>
          </p:nvPr>
        </p:nvSpPr>
        <p:spPr>
          <a:xfrm>
            <a:off x="1371600" y="4131526"/>
            <a:ext cx="4443984" cy="823912"/>
          </a:xfrm>
        </p:spPr>
        <p:txBody>
          <a:bodyPr/>
          <a:lstStyle/>
          <a:p>
            <a:r>
              <a:rPr lang="en-GB" dirty="0"/>
              <a:t>Deconstructing</a:t>
            </a:r>
            <a:endParaRPr lang="de-DE" dirty="0"/>
          </a:p>
        </p:txBody>
      </p:sp>
      <p:pic>
        <p:nvPicPr>
          <p:cNvPr id="8" name="Content Placeholder 7"/>
          <p:cNvPicPr>
            <a:picLocks noGrp="1" noChangeAspect="1"/>
          </p:cNvPicPr>
          <p:nvPr>
            <p:ph sz="quarter" idx="4"/>
          </p:nvPr>
        </p:nvPicPr>
        <p:blipFill>
          <a:blip r:embed="rId3"/>
          <a:stretch>
            <a:fillRect/>
          </a:stretch>
        </p:blipFill>
        <p:spPr>
          <a:xfrm>
            <a:off x="1371599" y="4955438"/>
            <a:ext cx="5625621" cy="779406"/>
          </a:xfrm>
          <a:prstGeom prst="rect">
            <a:avLst/>
          </a:prstGeom>
        </p:spPr>
      </p:pic>
      <p:sp>
        <p:nvSpPr>
          <p:cNvPr id="15" name="TextBox 14">
            <a:hlinkClick r:id="rId4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462913938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Filter</a:t>
            </a:r>
            <a:endParaRPr lang="de-DE" dirty="0"/>
          </a:p>
        </p:txBody>
      </p:sp>
      <p:pic>
        <p:nvPicPr>
          <p:cNvPr id="12" name="Content Placeholder 11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9601200" cy="2648073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2787221191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</a:t>
            </a:r>
            <a:endParaRPr lang="de-DE" dirty="0"/>
          </a:p>
        </p:txBody>
      </p:sp>
      <p:pic>
        <p:nvPicPr>
          <p:cNvPr id="3" name="Content Placeholder 2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699"/>
            <a:ext cx="8353425" cy="4305511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077145192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9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Reduce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3023818"/>
            <a:ext cx="9601200" cy="2105763"/>
          </a:xfrm>
          <a:prstGeom prst="rect">
            <a:avLst/>
          </a:prstGeom>
        </p:spPr>
      </p:pic>
      <p:sp>
        <p:nvSpPr>
          <p:cNvPr id="15" name="TextBox 14">
            <a:hlinkClick r:id="rId3" action="ppaction://hlinksldjump"/>
          </p:cNvPr>
          <p:cNvSpPr txBox="1"/>
          <p:nvPr/>
        </p:nvSpPr>
        <p:spPr>
          <a:xfrm>
            <a:off x="706583" y="5938"/>
            <a:ext cx="2054431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GB" sz="2000" dirty="0"/>
              <a:t>Arrays</a:t>
            </a:r>
            <a:endParaRPr lang="de-DE" dirty="0"/>
          </a:p>
        </p:txBody>
      </p:sp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2171700"/>
            <a:ext cx="10509847" cy="838164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1200150" y="4533900"/>
            <a:ext cx="10763250" cy="1704975"/>
          </a:xfrm>
          <a:prstGeom prst="rect">
            <a:avLst/>
          </a:prstGeom>
          <a:solidFill>
            <a:schemeClr val="bg2"/>
          </a:solidFill>
        </p:spPr>
        <p:txBody>
          <a:bodyPr wrap="square" rtlCol="0">
            <a:spAutoFit/>
          </a:bodyPr>
          <a:lstStyle/>
          <a:p>
            <a:endParaRPr lang="de-DE" dirty="0"/>
          </a:p>
        </p:txBody>
      </p:sp>
    </p:spTree>
    <p:extLst>
      <p:ext uri="{BB962C8B-B14F-4D97-AF65-F5344CB8AC3E}">
        <p14:creationId xmlns:p14="http://schemas.microsoft.com/office/powerpoint/2010/main" val="1655869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xit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/>
          <p:cNvSpPr>
            <a:spLocks noGrp="1"/>
          </p:cNvSpPr>
          <p:nvPr>
            <p:ph type="title"/>
          </p:nvPr>
        </p:nvSpPr>
        <p:spPr>
          <a:xfrm>
            <a:off x="800100" y="342900"/>
            <a:ext cx="10715625" cy="1514476"/>
          </a:xfrm>
        </p:spPr>
        <p:txBody>
          <a:bodyPr>
            <a:normAutofit/>
          </a:bodyPr>
          <a:lstStyle/>
          <a:p>
            <a:pPr algn="l"/>
            <a:r>
              <a:rPr lang="en-GB" dirty="0"/>
              <a:t>Exercises</a:t>
            </a:r>
            <a:endParaRPr lang="de-DE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idx="1"/>
          </p:nvPr>
        </p:nvSpPr>
        <p:spPr>
          <a:xfrm>
            <a:off x="800100" y="1981200"/>
            <a:ext cx="8920671" cy="3378452"/>
          </a:xfrm>
        </p:spPr>
        <p:txBody>
          <a:bodyPr>
            <a:normAutofit/>
          </a:bodyPr>
          <a:lstStyle/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/>
              <a:t>MapReduce</a:t>
            </a:r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 err="1"/>
              <a:t>MergeSort</a:t>
            </a:r>
            <a:endParaRPr lang="en-GB" dirty="0"/>
          </a:p>
          <a:p>
            <a:pPr marL="342900" indent="-342900" algn="l">
              <a:buFont typeface="Wingdings" panose="05000000000000000000" pitchFamily="2" charset="2"/>
              <a:buChar char="§"/>
            </a:pPr>
            <a:r>
              <a:rPr lang="en-GB" dirty="0"/>
              <a:t>Refactoring</a:t>
            </a:r>
          </a:p>
        </p:txBody>
      </p:sp>
    </p:spTree>
    <p:extLst>
      <p:ext uri="{BB962C8B-B14F-4D97-AF65-F5344CB8AC3E}">
        <p14:creationId xmlns:p14="http://schemas.microsoft.com/office/powerpoint/2010/main" val="4149060222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MapReduce</a:t>
            </a:r>
            <a:endParaRPr lang="de-DE" dirty="0"/>
          </a:p>
        </p:txBody>
      </p:sp>
      <p:pic>
        <p:nvPicPr>
          <p:cNvPr id="4" name="Content Placeholder 3"/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1371600" y="2171700"/>
            <a:ext cx="10476650" cy="245961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6716416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MergeSort</a:t>
            </a:r>
            <a:endParaRPr lang="de-DE" dirty="0"/>
          </a:p>
        </p:txBody>
      </p:sp>
      <p:pic>
        <p:nvPicPr>
          <p:cNvPr id="6" name="Content Placeholder 5"/>
          <p:cNvPicPr>
            <a:picLocks noGrp="1" noChangeAspect="1"/>
          </p:cNvPicPr>
          <p:nvPr>
            <p:ph sz="half" idx="1"/>
          </p:nvPr>
        </p:nvPicPr>
        <p:blipFill>
          <a:blip r:embed="rId2"/>
          <a:stretch>
            <a:fillRect/>
          </a:stretch>
        </p:blipFill>
        <p:spPr>
          <a:xfrm>
            <a:off x="1371600" y="3054312"/>
            <a:ext cx="4448175" cy="2044776"/>
          </a:xfrm>
          <a:prstGeom prst="rect">
            <a:avLst/>
          </a:prstGeom>
        </p:spPr>
      </p:pic>
      <p:pic>
        <p:nvPicPr>
          <p:cNvPr id="7" name="Content Placeholder 6"/>
          <p:cNvPicPr>
            <a:picLocks noGrp="1" noChangeAspect="1"/>
          </p:cNvPicPr>
          <p:nvPr>
            <p:ph sz="half" idx="2"/>
          </p:nvPr>
        </p:nvPicPr>
        <p:blipFill>
          <a:blip r:embed="rId3"/>
          <a:stretch>
            <a:fillRect/>
          </a:stretch>
        </p:blipFill>
        <p:spPr>
          <a:xfrm>
            <a:off x="6524625" y="2896770"/>
            <a:ext cx="4448175" cy="235985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52093353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Refactoring</a:t>
            </a:r>
            <a:r>
              <a:rPr lang="de-DE" dirty="0"/>
              <a:t>	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Live!</a:t>
            </a:r>
          </a:p>
        </p:txBody>
      </p:sp>
    </p:spTree>
    <p:extLst>
      <p:ext uri="{BB962C8B-B14F-4D97-AF65-F5344CB8AC3E}">
        <p14:creationId xmlns:p14="http://schemas.microsoft.com/office/powerpoint/2010/main" val="193731151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parseInt</a:t>
            </a:r>
            <a:endParaRPr lang="de-DE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1600" y="2171700"/>
            <a:ext cx="7802064" cy="457264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371600" y="3939703"/>
            <a:ext cx="8735736" cy="350322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371600" y="3282839"/>
            <a:ext cx="7041910" cy="399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254250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Crop">
  <a:themeElements>
    <a:clrScheme name="Crop">
      <a:dk1>
        <a:sysClr val="windowText" lastClr="000000"/>
      </a:dk1>
      <a:lt1>
        <a:sysClr val="window" lastClr="FFFFFF"/>
      </a:lt1>
      <a:dk2>
        <a:srgbClr val="1A2E40"/>
      </a:dk2>
      <a:lt2>
        <a:srgbClr val="EBE7DD"/>
      </a:lt2>
      <a:accent1>
        <a:srgbClr val="69A1AB"/>
      </a:accent1>
      <a:accent2>
        <a:srgbClr val="F2C418"/>
      </a:accent2>
      <a:accent3>
        <a:srgbClr val="87492C"/>
      </a:accent3>
      <a:accent4>
        <a:srgbClr val="4A845E"/>
      </a:accent4>
      <a:accent5>
        <a:srgbClr val="DC9528"/>
      </a:accent5>
      <a:accent6>
        <a:srgbClr val="9A5D78"/>
      </a:accent6>
      <a:hlink>
        <a:srgbClr val="66C8E3"/>
      </a:hlink>
      <a:folHlink>
        <a:srgbClr val="B162A1"/>
      </a:folHlink>
    </a:clrScheme>
    <a:fontScheme name="Crop">
      <a:maj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ajorFont>
      <a:minorFont>
        <a:latin typeface="Franklin Gothic Book" panose="020B0503020102020204"/>
        <a:ea typeface=""/>
        <a:cs typeface=""/>
        <a:font script="Jpan" typeface="メイリオ"/>
        <a:font script="Hang" typeface="돋움"/>
        <a:font script="Hans" typeface="华文楷体"/>
        <a:font script="Hant" typeface="微軟正黑體"/>
        <a:font script="Arab" typeface="Tahoma"/>
        <a:font script="Hebr" typeface="Aharoni"/>
        <a:font script="Thai" typeface="LilyUPC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ahoma"/>
        <a:font script="Uigh" typeface="Microsoft Uighur"/>
        <a:font script="Geor" typeface="Sylfaen"/>
      </a:minorFont>
    </a:fontScheme>
    <a:fmtScheme name="Crop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satMod val="105000"/>
                <a:lumMod val="110000"/>
              </a:schemeClr>
            </a:gs>
            <a:gs pos="50000">
              <a:schemeClr val="phClr">
                <a:tint val="73000"/>
                <a:satMod val="103000"/>
                <a:lumMod val="105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satMod val="103000"/>
                <a:lumMod val="102000"/>
              </a:schemeClr>
            </a:gs>
            <a:gs pos="50000">
              <a:schemeClr val="phClr">
                <a:shade val="100000"/>
                <a:satMod val="110000"/>
                <a:lumMod val="100000"/>
              </a:schemeClr>
            </a:gs>
            <a:gs pos="100000">
              <a:schemeClr val="phClr">
                <a:shade val="78000"/>
                <a:satMod val="120000"/>
                <a:lumMod val="99000"/>
              </a:schemeClr>
            </a:gs>
          </a:gsLst>
          <a:lin ang="5400000" scaled="0"/>
        </a:gradFill>
      </a:fillStyleLst>
      <a:lnStyleLst>
        <a:ln w="6350" cap="flat" cmpd="sng" algn="in">
          <a:solidFill>
            <a:schemeClr val="phClr"/>
          </a:solidFill>
          <a:prstDash val="solid"/>
        </a:ln>
        <a:ln w="34925" cap="flat" cmpd="sng" algn="in">
          <a:solidFill>
            <a:schemeClr val="phClr"/>
          </a:solidFill>
          <a:prstDash val="solid"/>
        </a:ln>
        <a:ln w="19050" cap="flat" cmpd="sng" algn="in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satMod val="150000"/>
                <a:lumMod val="102000"/>
              </a:schemeClr>
            </a:gs>
            <a:gs pos="50000">
              <a:schemeClr val="phClr">
                <a:tint val="98000"/>
                <a:shade val="90000"/>
                <a:satMod val="13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rop" id="{EC9488ED-E761-4D60-9AC4-764D1FE2C171}" vid="{17F9D331-421E-442F-B033-AF5B21A44854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TM10001105[[fn=Crop]]</Template>
  <TotalTime>0</TotalTime>
  <Words>331</Words>
  <Application>Microsoft Office PowerPoint</Application>
  <PresentationFormat>Widescreen</PresentationFormat>
  <Paragraphs>137</Paragraphs>
  <Slides>48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48</vt:i4>
      </vt:variant>
    </vt:vector>
  </HeadingPairs>
  <TitlesOfParts>
    <vt:vector size="51" baseType="lpstr">
      <vt:lpstr>Franklin Gothic Book</vt:lpstr>
      <vt:lpstr>Wingdings</vt:lpstr>
      <vt:lpstr>Crop</vt:lpstr>
      <vt:lpstr>Typescript</vt:lpstr>
      <vt:lpstr>TypeScript</vt:lpstr>
      <vt:lpstr>Overview</vt:lpstr>
      <vt:lpstr>Basics</vt:lpstr>
      <vt:lpstr>Declare variable</vt:lpstr>
      <vt:lpstr>PowerPoint Presentation</vt:lpstr>
      <vt:lpstr>Types – Part I</vt:lpstr>
      <vt:lpstr>Types – Part II</vt:lpstr>
      <vt:lpstr>Types – Part III</vt:lpstr>
      <vt:lpstr>Undefined &amp; Null</vt:lpstr>
      <vt:lpstr>Objects</vt:lpstr>
      <vt:lpstr>Maps</vt:lpstr>
      <vt:lpstr>Truthy &amp; Falsy</vt:lpstr>
      <vt:lpstr>Operations</vt:lpstr>
      <vt:lpstr>Boolean Expressions</vt:lpstr>
      <vt:lpstr>Operations – Part I</vt:lpstr>
      <vt:lpstr>Operations – Part II</vt:lpstr>
      <vt:lpstr>Operations – Part III</vt:lpstr>
      <vt:lpstr>Loops</vt:lpstr>
      <vt:lpstr>Object oriented programming </vt:lpstr>
      <vt:lpstr>Classes &amp; features</vt:lpstr>
      <vt:lpstr>Getter &amp; Setter</vt:lpstr>
      <vt:lpstr>Class - Getter &amp; Setter</vt:lpstr>
      <vt:lpstr>Interface</vt:lpstr>
      <vt:lpstr>Functions</vt:lpstr>
      <vt:lpstr>Syntax </vt:lpstr>
      <vt:lpstr>Immediately invoked functions </vt:lpstr>
      <vt:lpstr>Typing</vt:lpstr>
      <vt:lpstr>Higher Order Function</vt:lpstr>
      <vt:lpstr>Exercise: Fibonacci I</vt:lpstr>
      <vt:lpstr>Exercise: Fibonacci I</vt:lpstr>
      <vt:lpstr>Rest Parameters</vt:lpstr>
      <vt:lpstr>Optional Parameters</vt:lpstr>
      <vt:lpstr>Lazy Generators (ES6 only!)</vt:lpstr>
      <vt:lpstr>Exercise: Fibonacci II</vt:lpstr>
      <vt:lpstr>Exercise: Fibonacci II</vt:lpstr>
      <vt:lpstr>Arrays</vt:lpstr>
      <vt:lpstr>Operations – Part I</vt:lpstr>
      <vt:lpstr>Operations – Part II</vt:lpstr>
      <vt:lpstr>Operations – Part III</vt:lpstr>
      <vt:lpstr>Filter</vt:lpstr>
      <vt:lpstr>Map</vt:lpstr>
      <vt:lpstr>Reduce</vt:lpstr>
      <vt:lpstr>Exercises</vt:lpstr>
      <vt:lpstr>MapReduce</vt:lpstr>
      <vt:lpstr>MergeSort</vt:lpstr>
      <vt:lpstr>Refactoring </vt:lpstr>
      <vt:lpstr>parseInt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Typescript</dc:title>
  <dc:creator>nelo112@web.de</dc:creator>
  <cp:lastModifiedBy>nelo112@web.de</cp:lastModifiedBy>
  <cp:revision>55</cp:revision>
  <dcterms:created xsi:type="dcterms:W3CDTF">2017-06-21T18:15:23Z</dcterms:created>
  <dcterms:modified xsi:type="dcterms:W3CDTF">2017-06-26T12:09:20Z</dcterms:modified>
</cp:coreProperties>
</file>