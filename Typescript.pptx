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303" r:id="rId3"/>
    <p:sldId id="313" r:id="rId4"/>
    <p:sldId id="314" r:id="rId5"/>
    <p:sldId id="308" r:id="rId6"/>
    <p:sldId id="269" r:id="rId7"/>
    <p:sldId id="257" r:id="rId8"/>
    <p:sldId id="259" r:id="rId9"/>
    <p:sldId id="267" r:id="rId10"/>
    <p:sldId id="262" r:id="rId11"/>
    <p:sldId id="311" r:id="rId12"/>
    <p:sldId id="264" r:id="rId13"/>
    <p:sldId id="263" r:id="rId14"/>
    <p:sldId id="265" r:id="rId15"/>
    <p:sldId id="268" r:id="rId16"/>
    <p:sldId id="276" r:id="rId17"/>
    <p:sldId id="270" r:id="rId18"/>
    <p:sldId id="271" r:id="rId19"/>
    <p:sldId id="273" r:id="rId20"/>
    <p:sldId id="275" r:id="rId21"/>
    <p:sldId id="272" r:id="rId22"/>
    <p:sldId id="281" r:id="rId23"/>
    <p:sldId id="277" r:id="rId24"/>
    <p:sldId id="278" r:id="rId25"/>
    <p:sldId id="279" r:id="rId26"/>
    <p:sldId id="280" r:id="rId27"/>
    <p:sldId id="285" r:id="rId28"/>
    <p:sldId id="286" r:id="rId29"/>
    <p:sldId id="288" r:id="rId30"/>
    <p:sldId id="289" r:id="rId31"/>
    <p:sldId id="310" r:id="rId32"/>
    <p:sldId id="287" r:id="rId33"/>
    <p:sldId id="290" r:id="rId34"/>
    <p:sldId id="300" r:id="rId35"/>
    <p:sldId id="291" r:id="rId36"/>
    <p:sldId id="292" r:id="rId37"/>
    <p:sldId id="301" r:id="rId38"/>
    <p:sldId id="293" r:id="rId39"/>
    <p:sldId id="283" r:id="rId40"/>
    <p:sldId id="284" r:id="rId41"/>
    <p:sldId id="294" r:id="rId42"/>
    <p:sldId id="296" r:id="rId43"/>
    <p:sldId id="297" r:id="rId44"/>
    <p:sldId id="298" r:id="rId45"/>
    <p:sldId id="299" r:id="rId46"/>
    <p:sldId id="302" r:id="rId47"/>
    <p:sldId id="295" r:id="rId48"/>
    <p:sldId id="304" r:id="rId49"/>
    <p:sldId id="305" r:id="rId50"/>
    <p:sldId id="306" r:id="rId51"/>
    <p:sldId id="312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CF124C-5AFE-49D5-BB84-7D20E5B033C4}">
          <p14:sldIdLst>
            <p14:sldId id="256"/>
            <p14:sldId id="303"/>
            <p14:sldId id="313"/>
            <p14:sldId id="314"/>
          </p14:sldIdLst>
        </p14:section>
        <p14:section name="Summary Section" id="{FC962BEB-3E83-41E1-A56D-D9F400005E1C}">
          <p14:sldIdLst>
            <p14:sldId id="308"/>
          </p14:sldIdLst>
        </p14:section>
        <p14:section name="_Basics" id="{3FDA1A42-9D8A-4EB7-9325-9494EE2103A6}">
          <p14:sldIdLst>
            <p14:sldId id="269"/>
          </p14:sldIdLst>
        </p14:section>
        <p14:section name="Declare variable" id="{181E29B0-F18C-4551-AB2A-BCD841CBADCD}">
          <p14:sldIdLst>
            <p14:sldId id="257"/>
            <p14:sldId id="259"/>
          </p14:sldIdLst>
        </p14:section>
        <p14:section name="Types – Part 1" id="{FC40A588-AE5F-495D-B336-7D287693925D}">
          <p14:sldIdLst>
            <p14:sldId id="267"/>
            <p14:sldId id="262"/>
            <p14:sldId id="311"/>
            <p14:sldId id="264"/>
          </p14:sldIdLst>
        </p14:section>
        <p14:section name="Objects" id="{35CAD9EE-E5D4-46A0-ACA4-47DEA4E5BB8C}">
          <p14:sldIdLst>
            <p14:sldId id="263"/>
            <p14:sldId id="265"/>
          </p14:sldIdLst>
        </p14:section>
        <p14:section name="Truthy &amp; Falsy" id="{17F2CB21-DAB8-4FCD-AA54-380F6DC44B82}">
          <p14:sldIdLst>
            <p14:sldId id="268"/>
          </p14:sldIdLst>
        </p14:section>
        <p14:section name="_Operations" id="{1911C78B-51E3-4DD5-A36B-D4A7ACDEBBCE}">
          <p14:sldIdLst>
            <p14:sldId id="276"/>
          </p14:sldIdLst>
        </p14:section>
        <p14:section name="Boolean Expressions" id="{3910ABA5-024F-44BF-BAB4-0E6816D359A1}">
          <p14:sldIdLst>
            <p14:sldId id="270"/>
          </p14:sldIdLst>
        </p14:section>
        <p14:section name="Operations" id="{B858D946-C53A-4708-B422-12CE0E78A702}">
          <p14:sldIdLst>
            <p14:sldId id="271"/>
            <p14:sldId id="273"/>
            <p14:sldId id="275"/>
          </p14:sldIdLst>
        </p14:section>
        <p14:section name="Loops" id="{F0BA19BB-1530-418C-AB6F-FB3A325142B5}">
          <p14:sldIdLst>
            <p14:sldId id="272"/>
          </p14:sldIdLst>
        </p14:section>
        <p14:section name="_OOP" id="{AE89D0ED-BC0D-46FE-875F-397CC3B09DA4}">
          <p14:sldIdLst>
            <p14:sldId id="281"/>
          </p14:sldIdLst>
        </p14:section>
        <p14:section name="Class" id="{1F34B62B-A216-477C-B3CB-127D7BAB8C5F}">
          <p14:sldIdLst>
            <p14:sldId id="277"/>
            <p14:sldId id="278"/>
            <p14:sldId id="279"/>
          </p14:sldIdLst>
        </p14:section>
        <p14:section name="Interface" id="{C5D8CD8D-8FD5-4EEC-86B2-3A92DC7DA6DA}">
          <p14:sldIdLst>
            <p14:sldId id="280"/>
          </p14:sldIdLst>
        </p14:section>
        <p14:section name="_Functions" id="{FA2D006A-90CB-48EC-919F-8385A1939BD7}">
          <p14:sldIdLst>
            <p14:sldId id="285"/>
          </p14:sldIdLst>
        </p14:section>
        <p14:section name="Syntax" id="{7E4CB3D5-4115-4DA7-96C8-D3B2B1B3D791}">
          <p14:sldIdLst>
            <p14:sldId id="286"/>
            <p14:sldId id="288"/>
          </p14:sldIdLst>
        </p14:section>
        <p14:section name="Typing" id="{93DEBB8D-ECA1-4F89-BB41-46DAD797472D}">
          <p14:sldIdLst>
            <p14:sldId id="289"/>
            <p14:sldId id="310"/>
          </p14:sldIdLst>
        </p14:section>
        <p14:section name="Rest Parameters" id="{8599694B-A55B-4BD9-9ACA-F632C7D1925D}">
          <p14:sldIdLst>
            <p14:sldId id="287"/>
            <p14:sldId id="290"/>
            <p14:sldId id="300"/>
            <p14:sldId id="291"/>
          </p14:sldIdLst>
        </p14:section>
        <p14:section name="Lazy Generators (ES6 only!)" id="{106C052C-0C44-4E41-9330-8FE4C9B1E510}">
          <p14:sldIdLst>
            <p14:sldId id="292"/>
            <p14:sldId id="301"/>
            <p14:sldId id="293"/>
          </p14:sldIdLst>
        </p14:section>
        <p14:section name="_Arrays" id="{8D399660-254B-4018-8AAE-4022D3519FBC}">
          <p14:sldIdLst>
            <p14:sldId id="283"/>
          </p14:sldIdLst>
        </p14:section>
        <p14:section name="Operations" id="{53560B42-0755-411A-BE43-64585385B195}">
          <p14:sldIdLst>
            <p14:sldId id="284"/>
            <p14:sldId id="294"/>
            <p14:sldId id="296"/>
          </p14:sldIdLst>
        </p14:section>
        <p14:section name="Filter" id="{D9040914-A825-45D3-A1B0-0F1F7B6DAA89}">
          <p14:sldIdLst>
            <p14:sldId id="297"/>
          </p14:sldIdLst>
        </p14:section>
        <p14:section name="Map" id="{37FABDBF-9C64-496D-BE49-D1455AB6FE36}">
          <p14:sldIdLst>
            <p14:sldId id="298"/>
          </p14:sldIdLst>
        </p14:section>
        <p14:section name="Reduce" id="{5FA8F333-0FFA-49E3-B70B-F988FB93C4CF}">
          <p14:sldIdLst>
            <p14:sldId id="299"/>
          </p14:sldIdLst>
        </p14:section>
        <p14:section name="Exercises" id="{67F6FD5E-7F28-4A75-9591-70B24B5D76BC}">
          <p14:sldIdLst>
            <p14:sldId id="302"/>
            <p14:sldId id="295"/>
            <p14:sldId id="304"/>
            <p14:sldId id="305"/>
            <p14:sldId id="306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692168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572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9874006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580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65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29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9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6217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5062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895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51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92696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6.xml"/><Relationship Id="rId3" Type="http://schemas.openxmlformats.org/officeDocument/2006/relationships/image" Target="../media/image4.png"/><Relationship Id="rId7" Type="http://schemas.openxmlformats.org/officeDocument/2006/relationships/slide" Target="slide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slide" Target="slide39.xml"/><Relationship Id="rId5" Type="http://schemas.openxmlformats.org/officeDocument/2006/relationships/image" Target="../media/image6.png"/><Relationship Id="rId10" Type="http://schemas.openxmlformats.org/officeDocument/2006/relationships/slide" Target="slide27.xml"/><Relationship Id="rId4" Type="http://schemas.openxmlformats.org/officeDocument/2006/relationships/image" Target="../media/image5.png"/><Relationship Id="rId9" Type="http://schemas.openxmlformats.org/officeDocument/2006/relationships/slide" Target="slide2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3" Type="http://schemas.openxmlformats.org/officeDocument/2006/relationships/image" Target="../media/image9.png"/><Relationship Id="rId7" Type="http://schemas.openxmlformats.org/officeDocument/2006/relationships/slide" Target="slide9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1.png"/><Relationship Id="rId10" Type="http://schemas.openxmlformats.org/officeDocument/2006/relationships/slide" Target="slide5.xml"/><Relationship Id="rId4" Type="http://schemas.openxmlformats.org/officeDocument/2006/relationships/image" Target="../media/image10.png"/><Relationship Id="rId9" Type="http://schemas.openxmlformats.org/officeDocument/2006/relationships/slide" Target="slide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image" Target="../media/image23.png"/><Relationship Id="rId7" Type="http://schemas.openxmlformats.org/officeDocument/2006/relationships/slide" Target="slide2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8.xml"/><Relationship Id="rId5" Type="http://schemas.openxmlformats.org/officeDocument/2006/relationships/slide" Target="slide1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26.xml"/><Relationship Id="rId4" Type="http://schemas.openxmlformats.org/officeDocument/2006/relationships/slide" Target="slide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3" Type="http://schemas.openxmlformats.org/officeDocument/2006/relationships/image" Target="../media/image43.png"/><Relationship Id="rId7" Type="http://schemas.openxmlformats.org/officeDocument/2006/relationships/slide" Target="slide30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45.png"/><Relationship Id="rId10" Type="http://schemas.openxmlformats.org/officeDocument/2006/relationships/slide" Target="slide5.xml"/><Relationship Id="rId4" Type="http://schemas.openxmlformats.org/officeDocument/2006/relationships/image" Target="../media/image44.png"/><Relationship Id="rId9" Type="http://schemas.openxmlformats.org/officeDocument/2006/relationships/slide" Target="slide3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3" Type="http://schemas.openxmlformats.org/officeDocument/2006/relationships/image" Target="../media/image58.png"/><Relationship Id="rId7" Type="http://schemas.openxmlformats.org/officeDocument/2006/relationships/slide" Target="slide43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0.xml"/><Relationship Id="rId5" Type="http://schemas.openxmlformats.org/officeDocument/2006/relationships/image" Target="../media/image60.png"/><Relationship Id="rId10" Type="http://schemas.openxmlformats.org/officeDocument/2006/relationships/slide" Target="slide5.xml"/><Relationship Id="rId4" Type="http://schemas.openxmlformats.org/officeDocument/2006/relationships/image" Target="../media/image59.png"/><Relationship Id="rId9" Type="http://schemas.openxmlformats.org/officeDocument/2006/relationships/slide" Target="slide4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4" Type="http://schemas.openxmlformats.org/officeDocument/2006/relationships/slide" Target="slide3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Typescript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It’s JavaScript but not terrible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390" y="-150829"/>
            <a:ext cx="518474" cy="7475456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4795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de-DE" dirty="0" err="1"/>
              <a:t>OpenSource</a:t>
            </a:r>
            <a:r>
              <a:rPr lang="de-DE" dirty="0"/>
              <a:t> Project </a:t>
            </a:r>
            <a:r>
              <a:rPr lang="de-DE" dirty="0" err="1"/>
              <a:t>by</a:t>
            </a:r>
            <a:r>
              <a:rPr lang="de-DE" dirty="0"/>
              <a:t> Microsoft</a:t>
            </a:r>
          </a:p>
          <a:p>
            <a:r>
              <a:rPr lang="de-DE" dirty="0" err="1"/>
              <a:t>Compiles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JavaScript</a:t>
            </a:r>
          </a:p>
          <a:p>
            <a:pPr lvl="1"/>
            <a:r>
              <a:rPr lang="de-DE" dirty="0"/>
              <a:t>ES5 </a:t>
            </a:r>
            <a:r>
              <a:rPr lang="de-DE" dirty="0" err="1"/>
              <a:t>vs</a:t>
            </a:r>
            <a:r>
              <a:rPr lang="de-DE" dirty="0"/>
              <a:t> ES6</a:t>
            </a:r>
          </a:p>
          <a:p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compensate</a:t>
            </a:r>
            <a:r>
              <a:rPr lang="de-DE" dirty="0"/>
              <a:t> JS </a:t>
            </a:r>
            <a:r>
              <a:rPr lang="de-DE" dirty="0" err="1"/>
              <a:t>weaknesses</a:t>
            </a:r>
            <a:endParaRPr lang="de-DE" dirty="0"/>
          </a:p>
          <a:p>
            <a:pPr lvl="1"/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typing</a:t>
            </a:r>
            <a:endParaRPr lang="de-DE" dirty="0"/>
          </a:p>
          <a:p>
            <a:pPr lvl="1"/>
            <a:r>
              <a:rPr lang="de-DE" dirty="0"/>
              <a:t>Large 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endParaRPr lang="de-DE" dirty="0"/>
          </a:p>
          <a:p>
            <a:r>
              <a:rPr lang="de-DE" dirty="0"/>
              <a:t>Adoption rate </a:t>
            </a:r>
            <a:r>
              <a:rPr lang="de-DE" dirty="0" err="1"/>
              <a:t>rising</a:t>
            </a:r>
            <a:r>
              <a:rPr lang="de-DE" dirty="0"/>
              <a:t> (Angular 2)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735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736" y="3246213"/>
            <a:ext cx="10463868" cy="3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040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257" y="3224184"/>
            <a:ext cx="7773485" cy="409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1369" y="3231144"/>
            <a:ext cx="3129094" cy="805343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61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2360900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FDA1A42-9D8A-4EB7-9325-9494EE2103A6}">
                    <psuz:zmPr id="{3395519D-45FF-44FF-B105-A7A5EFE13F75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911C78B-51E3-4DD5-A36B-D4A7ACDEBBCE}">
                    <psuz:zmPr id="{3933968F-3311-4347-BA0B-A76EC9C87C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89D0ED-BC0D-46FE-875F-397CC3B09DA4}">
                    <psuz:zmPr id="{44A75D2B-7990-40B8-82D9-B2D2AEAC7E5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0602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A2D006A-90CB-48EC-919F-8385A1939BD7}">
                    <psuz:zmPr id="{5018C5BE-94C1-4A34-88EB-52133848311C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D399660-254B-4018-8AAE-4022D3519FBC}">
                    <psuz:zmPr id="{49658197-A2DC-4105-A546-CFD444D86FCA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6708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964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12202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6708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3964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406192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82366779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81E29B0-F18C-4551-AB2A-BCD841CBADCD}">
                    <psuz:zmPr id="{8A1D9B56-1123-4529-9F5C-BCED8766C0DA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C40A588-AE5F-495D-B336-7D287693925D}">
                    <psuz:zmPr id="{20C14603-2496-4AFB-A656-02CA8269F0E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5CAD9EE-E5D4-46A0-ACA4-47DEA4E5BB8C}">
                    <psuz:zmPr id="{B93A71BD-6C5E-454C-BF70-D93BCD63CB86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7F2CB21-DAB8-4FCD-AA54-380F6DC44B82}">
                    <psuz:zmPr id="{17D86C3E-7C52-409F-A500-B017106D9EED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19356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variable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7220" y="3276488"/>
            <a:ext cx="8849960" cy="1600423"/>
          </a:xfrm>
          <a:prstGeom prst="rect">
            <a:avLst/>
          </a:prstGeom>
        </p:spPr>
      </p:pic>
      <p:sp>
        <p:nvSpPr>
          <p:cNvPr id="5" name="TextBox 4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929576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mediad.publicbroadcasting.net/p/kuow/files/styles/x_large/public/201701/IMG_314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-17813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 rot="21230482">
            <a:off x="3527023" y="226274"/>
            <a:ext cx="4630806" cy="36527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GB" sz="3600" dirty="0"/>
              <a:t>Using</a:t>
            </a:r>
          </a:p>
          <a:p>
            <a:pPr algn="ctr"/>
            <a:r>
              <a:rPr lang="en-GB" sz="8800" dirty="0"/>
              <a:t>VAR</a:t>
            </a:r>
          </a:p>
          <a:p>
            <a:pPr algn="ctr"/>
            <a:r>
              <a:rPr lang="en-GB" sz="3600" dirty="0"/>
              <a:t>is</a:t>
            </a:r>
          </a:p>
          <a:p>
            <a:pPr algn="ctr"/>
            <a:r>
              <a:rPr lang="en-GB" sz="8800" dirty="0"/>
              <a:t>FINE</a:t>
            </a:r>
            <a:endParaRPr lang="de-DE" sz="8800" dirty="0"/>
          </a:p>
        </p:txBody>
      </p:sp>
      <p:pic>
        <p:nvPicPr>
          <p:cNvPr id="1028" name="Picture 4" descr="Ähnliches Fo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12330">
            <a:off x="3594699" y="122095"/>
            <a:ext cx="4495454" cy="449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67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</a:t>
            </a:r>
            <a:r>
              <a:rPr lang="en-GB"/>
              <a:t>Part 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Strings</a:t>
            </a:r>
          </a:p>
          <a:p>
            <a:r>
              <a:rPr lang="en-GB" sz="2800" dirty="0"/>
              <a:t>Boolean</a:t>
            </a:r>
          </a:p>
          <a:p>
            <a:r>
              <a:rPr lang="en-GB" sz="2800" dirty="0"/>
              <a:t>Number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778120"/>
            <a:ext cx="4448175" cy="259716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525262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Arrays</a:t>
            </a:r>
          </a:p>
          <a:p>
            <a:r>
              <a:rPr lang="en-GB" sz="2800" dirty="0"/>
              <a:t>Tuples</a:t>
            </a:r>
          </a:p>
          <a:p>
            <a:r>
              <a:rPr lang="en-GB" sz="2800" dirty="0" err="1"/>
              <a:t>Enums</a:t>
            </a:r>
            <a:endParaRPr lang="en-GB" sz="2800" dirty="0"/>
          </a:p>
          <a:p>
            <a:r>
              <a:rPr lang="en-GB" sz="2800" dirty="0"/>
              <a:t>Any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96969" y="2286000"/>
            <a:ext cx="3903486" cy="3581400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6295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15" y="3624199"/>
            <a:ext cx="7478169" cy="905001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43993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Undefined &amp; Null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435292" cy="3581401"/>
          </a:xfrm>
        </p:spPr>
        <p:txBody>
          <a:bodyPr anchor="ctr"/>
          <a:lstStyle/>
          <a:p>
            <a:r>
              <a:rPr lang="en-GB" dirty="0"/>
              <a:t>‘undefined’ is default value for variables</a:t>
            </a:r>
          </a:p>
          <a:p>
            <a:r>
              <a:rPr lang="en-GB" dirty="0"/>
              <a:t>Functions with no return value return ‘undefined’</a:t>
            </a:r>
          </a:p>
          <a:p>
            <a:r>
              <a:rPr lang="en-GB" dirty="0"/>
              <a:t>‘null’ is explicit no-value 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6892" y="3344464"/>
            <a:ext cx="7078298" cy="146447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74398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82286" cy="3581401"/>
          </a:xfrm>
        </p:spPr>
        <p:txBody>
          <a:bodyPr anchor="ctr"/>
          <a:lstStyle/>
          <a:p>
            <a:r>
              <a:rPr lang="en-GB" dirty="0"/>
              <a:t>Curly brackets</a:t>
            </a:r>
          </a:p>
          <a:p>
            <a:r>
              <a:rPr lang="en-GB" dirty="0"/>
              <a:t>Access properties with dot or brackets</a:t>
            </a:r>
          </a:p>
          <a:p>
            <a:r>
              <a:rPr lang="en-GB" dirty="0"/>
              <a:t>If type “any”: modify &amp; add properties at will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98503" y="2417084"/>
            <a:ext cx="7413858" cy="331923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95172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23563" cy="3581401"/>
          </a:xfrm>
        </p:spPr>
        <p:txBody>
          <a:bodyPr anchor="ctr"/>
          <a:lstStyle/>
          <a:p>
            <a:r>
              <a:rPr lang="en-GB" dirty="0"/>
              <a:t>Actually just objects</a:t>
            </a:r>
          </a:p>
          <a:p>
            <a:r>
              <a:rPr lang="en-GB" dirty="0"/>
              <a:t>Strings or numbers can be key</a:t>
            </a:r>
          </a:p>
          <a:p>
            <a:r>
              <a:rPr lang="en-GB" dirty="0"/>
              <a:t>With ES6 nicer syntax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04386" y="3246540"/>
            <a:ext cx="7632976" cy="166032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22339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Truthy &amp; </a:t>
            </a:r>
            <a:r>
              <a:rPr lang="en-GB" dirty="0" err="1"/>
              <a:t>Falsy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de-DE" dirty="0"/>
              <a:t>Non-</a:t>
            </a:r>
            <a:r>
              <a:rPr lang="de-DE" dirty="0" err="1"/>
              <a:t>booleans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booleans</a:t>
            </a:r>
            <a:endParaRPr lang="de-DE" dirty="0"/>
          </a:p>
          <a:p>
            <a:r>
              <a:rPr lang="de-DE" dirty="0" err="1"/>
              <a:t>Allow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simple </a:t>
            </a:r>
            <a:r>
              <a:rPr lang="de-DE" dirty="0" err="1"/>
              <a:t>undefined</a:t>
            </a:r>
            <a:r>
              <a:rPr lang="de-DE" dirty="0"/>
              <a:t>/null </a:t>
            </a:r>
            <a:r>
              <a:rPr lang="de-DE" dirty="0" err="1"/>
              <a:t>checks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converted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boolean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double </a:t>
            </a:r>
            <a:r>
              <a:rPr lang="de-DE" dirty="0" err="1"/>
              <a:t>negation</a:t>
            </a:r>
            <a:r>
              <a:rPr lang="de-DE" dirty="0"/>
              <a:t> (‚!!‘)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13458" y="2617366"/>
            <a:ext cx="7598054" cy="2918666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600216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80427892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910ABA5-024F-44BF-BAB4-0E6816D359A1}">
                    <psuz:zmPr id="{1A673881-454C-473C-8982-18DAE921070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72046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858D946-C53A-4708-B422-12CE0E78A702}">
                    <psuz:zmPr id="{57F2157F-1F6A-4DFC-84BC-EE6B2C3BEDF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0420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0BA19BB-1530-418C-AB6F-FB3A325142B5}">
                    <psuz:zmPr id="{A7D8398C-71BB-45B7-8E8F-E01F01D55EF3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8794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43646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2020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20394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7" name="TextBox 6">
            <a:hlinkClick r:id="rId8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3339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Expressions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en-GB" dirty="0"/>
              <a:t>Triple equal checks!</a:t>
            </a:r>
          </a:p>
          <a:p>
            <a:r>
              <a:rPr lang="en-GB" dirty="0"/>
              <a:t>Boolean expressions can return non-Boolean values</a:t>
            </a:r>
          </a:p>
          <a:p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58970" y="2038526"/>
            <a:ext cx="7922472" cy="4076348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6424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Increment/Decrement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564463" y="3781312"/>
            <a:ext cx="2057687" cy="160995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Swap Variables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24625" y="3969430"/>
            <a:ext cx="4445000" cy="1233714"/>
          </a:xfrm>
          <a:prstGeom prst="rect">
            <a:avLst/>
          </a:prstGeom>
        </p:spPr>
      </p:pic>
      <p:sp>
        <p:nvSpPr>
          <p:cNvPr id="13" name="TextBox 12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053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If-else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35593" y="4014707"/>
            <a:ext cx="4315427" cy="114316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Ternary operator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979991" y="4090918"/>
            <a:ext cx="3534268" cy="99073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437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4798380" cy="3581400"/>
          </a:xfrm>
          <a:prstGeom prst="rect">
            <a:avLst/>
          </a:prstGeom>
        </p:spPr>
      </p:pic>
      <p:sp>
        <p:nvSpPr>
          <p:cNvPr id="13" name="TextBox 12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45574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Loops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029" y="1829135"/>
            <a:ext cx="4443984" cy="823912"/>
          </a:xfrm>
        </p:spPr>
        <p:txBody>
          <a:bodyPr/>
          <a:lstStyle/>
          <a:p>
            <a:r>
              <a:rPr lang="en-GB" dirty="0"/>
              <a:t>For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600" y="3705326"/>
            <a:ext cx="4443413" cy="1761922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1829135"/>
            <a:ext cx="4443984" cy="823912"/>
          </a:xfrm>
        </p:spPr>
        <p:txBody>
          <a:bodyPr/>
          <a:lstStyle/>
          <a:p>
            <a:r>
              <a:rPr lang="en-GB" dirty="0"/>
              <a:t>While</a:t>
            </a:r>
            <a:endParaRPr lang="de-DE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056201" y="3333575"/>
            <a:ext cx="3381847" cy="2505425"/>
          </a:xfrm>
          <a:prstGeom prst="rect">
            <a:avLst/>
          </a:prstGeom>
        </p:spPr>
      </p:pic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5921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oriented programming	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82935975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F34B62B-A216-477C-B3CB-127D7BAB8C5F}">
                    <psuz:zmPr id="{94413019-833C-4F41-AF88-A1B53BDC9149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905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5D8CD8D-8FD5-4EEC-86B2-3A92DC7DA6DA}">
                    <psuz:zmPr id="{E34F02DA-37B5-4054-82B1-B5AC3EDF631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8161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7065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5321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TextBox 5">
            <a:hlinkClick r:id="rId6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28637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&amp; features</a:t>
            </a:r>
            <a:endParaRPr lang="de-DE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1"/>
          </p:nvPr>
        </p:nvSpPr>
        <p:spPr>
          <a:xfrm>
            <a:off x="1371600" y="1772133"/>
            <a:ext cx="4447786" cy="3581401"/>
          </a:xfrm>
        </p:spPr>
        <p:txBody>
          <a:bodyPr anchor="ctr"/>
          <a:lstStyle/>
          <a:p>
            <a:r>
              <a:rPr lang="en-GB" dirty="0"/>
              <a:t>Inheritance</a:t>
            </a:r>
          </a:p>
          <a:p>
            <a:r>
              <a:rPr lang="en-GB" dirty="0"/>
              <a:t>Access restriction (private, public &amp; protected)</a:t>
            </a:r>
          </a:p>
          <a:p>
            <a:r>
              <a:rPr lang="en-GB" dirty="0"/>
              <a:t>Abstract classes, abstract methods</a:t>
            </a:r>
            <a:endParaRPr lang="de-DE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440023"/>
            <a:ext cx="4448175" cy="2245620"/>
          </a:xfrm>
          <a:prstGeom prst="rect">
            <a:avLst/>
          </a:prstGeom>
        </p:spPr>
      </p:pic>
      <p:sp>
        <p:nvSpPr>
          <p:cNvPr id="9" name="TextBox 8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358" y="5507559"/>
            <a:ext cx="8239295" cy="94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553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Getter &amp; Setter</a:t>
            </a:r>
            <a:endParaRPr lang="de-DE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14169"/>
            <a:ext cx="4448175" cy="3125062"/>
          </a:xfrm>
          <a:prstGeom prst="rect">
            <a:avLst/>
          </a:prstGeom>
        </p:spPr>
      </p:pic>
      <p:pic>
        <p:nvPicPr>
          <p:cNvPr id="13" name="Content Placeholder 1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6701" y="2286000"/>
            <a:ext cx="4384023" cy="3581400"/>
          </a:xfrm>
          <a:prstGeom prst="rect">
            <a:avLst/>
          </a:prstGeom>
        </p:spPr>
      </p:pic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588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- Getter &amp; Setter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496250"/>
            <a:ext cx="4448175" cy="31609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00602"/>
            <a:ext cx="4448175" cy="1152195"/>
          </a:xfrm>
          <a:prstGeom prst="rect">
            <a:avLst/>
          </a:prstGeom>
        </p:spPr>
      </p:pic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037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</a:t>
            </a:r>
            <a:endParaRPr lang="de-DE" dirty="0"/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125" y="2286000"/>
            <a:ext cx="8058149" cy="3581400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4390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Content Placeholder 3"/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6363790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7E4CB3D5-4115-4DA7-96C8-D3B2B1B3D791}">
                    <psuz:zmPr id="{18EF9BCE-5C96-49FC-B82B-5BB799392BA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3DEBB8D-ECA1-4F89-BB41-46DAD797472D}">
                    <psuz:zmPr id="{64892CAE-9F5F-467F-851C-C157164CC5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599694B-A55B-4BD9-9ACA-F632C7D1925D}">
                    <psuz:zmPr id="{37848C8E-0DA1-4315-94EF-C3993237CB29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06C052C-0C44-4E41-9330-8FE4C9B1E510}">
                    <psuz:zmPr id="{3B7F634A-F2D0-455C-AC4B-20719AD8BF30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Content Placeholder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4743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62137"/>
            <a:ext cx="4448175" cy="3029125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27176"/>
            <a:ext cx="4448175" cy="109904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1885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Immediately invoked functions 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66881" y="3252672"/>
            <a:ext cx="4210638" cy="1648055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966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Typing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1" y="2171700"/>
            <a:ext cx="10691604" cy="181858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1916804" y="5216556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Variable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1916804" y="5698894"/>
            <a:ext cx="1484722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213427"/>
            <a:ext cx="9825891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1371600" y="3066245"/>
            <a:ext cx="8249023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1371601" y="3671302"/>
            <a:ext cx="1697728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1908005" y="2521204"/>
            <a:ext cx="5548537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3401526" y="3665348"/>
            <a:ext cx="549710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9974953" y="3066244"/>
            <a:ext cx="208825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00201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Higher Order Function</a:t>
            </a:r>
            <a:endParaRPr lang="de-DE" dirty="0"/>
          </a:p>
        </p:txBody>
      </p:sp>
      <p:sp>
        <p:nvSpPr>
          <p:cNvPr id="15" name="TextBox 14">
            <a:hlinkClick r:id="rId2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1600" y="3186166"/>
            <a:ext cx="9601200" cy="178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979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Parameters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97100"/>
            <a:ext cx="9601200" cy="129600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7831455" y="2171700"/>
            <a:ext cx="266700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4953000" y="2954543"/>
            <a:ext cx="224028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18228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Parameters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25194" cy="242253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10" name="TextBox 9"/>
          <p:cNvSpPr txBox="1"/>
          <p:nvPr/>
        </p:nvSpPr>
        <p:spPr>
          <a:xfrm>
            <a:off x="3514725" y="2171700"/>
            <a:ext cx="1673225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5373083" y="3759871"/>
            <a:ext cx="2640618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353907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10058401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Write a recursive Fibonacci function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Typed!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Extra challenge: Make it tail recursive</a:t>
            </a:r>
            <a:endParaRPr lang="de-DE" dirty="0">
              <a:solidFill>
                <a:schemeClr val="bg1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4289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10801350" cy="324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88268"/>
            <a:ext cx="1990724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 Body</a:t>
            </a:r>
            <a:endParaRPr lang="de-DE" dirty="0"/>
          </a:p>
        </p:txBody>
      </p:sp>
      <p:sp>
        <p:nvSpPr>
          <p:cNvPr id="6" name="TextBox 5"/>
          <p:cNvSpPr txBox="1"/>
          <p:nvPr/>
        </p:nvSpPr>
        <p:spPr>
          <a:xfrm>
            <a:off x="7162800" y="2126936"/>
            <a:ext cx="5043487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2805930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Parameters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3589747" y="2126936"/>
            <a:ext cx="3125377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449600"/>
            <a:ext cx="4990244" cy="30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Lazy Generators (ES6 only!)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8497486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353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9515476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Write a Fibonacci generator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5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II</a:t>
            </a:r>
            <a:endParaRPr lang="de-DE" dirty="0"/>
          </a:p>
        </p:txBody>
      </p:sp>
      <p:pic>
        <p:nvPicPr>
          <p:cNvPr id="15" name="Content Placeholder 1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300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77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Summary Zoom 3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360249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Summary Zoom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</p:grpSp>
        </mc:Fallback>
      </mc:AlternateContent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6" name="Summary Zoom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4437671"/>
                  </p:ext>
                </p:extLst>
              </p:nvPr>
            </p:nvGraphicFramePr>
            <p:xfrm>
              <a:off x="1524000" y="24384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53560B42-0755-411A-BE43-64585385B195}">
                    <psuz:zmPr id="{AB19A1AA-591D-4187-99D4-102F97917EF3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9040914-A825-45D3-A1B0-0F1F7B6DAA89}">
                    <psuz:zmPr id="{921CADEE-4E7C-4885-8ABA-8AE4388CBB0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7FABDBF-9C64-496D-BE49-D1455AB6FE36}">
                    <psuz:zmPr id="{0617311C-47D8-4946-91F0-0C916FB7A06E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FA8F333-0FFA-49E3-B70B-F988FB93C4CF}">
                    <psuz:zmPr id="{ED23CA34-9D93-4B5B-A1FD-5B8846D8798B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6" name="Summary Zoom 5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524000" y="2438400"/>
                <a:ext cx="9601200" cy="3581400"/>
                <a:chOff x="1524000" y="24384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405760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78321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05760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78321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9" name="TextBox 8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72313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pic>
        <p:nvPicPr>
          <p:cNvPr id="16" name="Content Placeholder 1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19882" cy="325049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32211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7739506" cy="2857502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775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371600" y="1905000"/>
            <a:ext cx="4443984" cy="616839"/>
          </a:xfrm>
        </p:spPr>
        <p:txBody>
          <a:bodyPr/>
          <a:lstStyle/>
          <a:p>
            <a:r>
              <a:rPr lang="en-GB" dirty="0"/>
              <a:t>Spread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599" y="2521839"/>
            <a:ext cx="7136095" cy="1116747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1371600" y="4131526"/>
            <a:ext cx="4443984" cy="823912"/>
          </a:xfrm>
        </p:spPr>
        <p:txBody>
          <a:bodyPr/>
          <a:lstStyle/>
          <a:p>
            <a:r>
              <a:rPr lang="en-GB" dirty="0"/>
              <a:t>Deconstructing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1371599" y="4955438"/>
            <a:ext cx="5625621" cy="779406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29139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Filter</a:t>
            </a:r>
            <a:endParaRPr lang="de-DE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264807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221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699"/>
            <a:ext cx="8353425" cy="4305511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71451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3283877"/>
            <a:ext cx="9601200" cy="210576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171700"/>
            <a:ext cx="10509847" cy="838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4181561"/>
            <a:ext cx="10763250" cy="1704975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55869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00100" y="342900"/>
            <a:ext cx="10715625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Exercises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00100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MapReduce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 err="1">
                <a:solidFill>
                  <a:schemeClr val="bg1"/>
                </a:solidFill>
              </a:rPr>
              <a:t>MergeSort</a:t>
            </a:r>
            <a:endParaRPr lang="en-GB" dirty="0">
              <a:solidFill>
                <a:schemeClr val="bg1"/>
              </a:solidFill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>
                <a:solidFill>
                  <a:schemeClr val="bg1"/>
                </a:solidFill>
              </a:rPr>
              <a:t>Refactoring</a:t>
            </a:r>
          </a:p>
        </p:txBody>
      </p:sp>
    </p:spTree>
    <p:extLst>
      <p:ext uri="{BB962C8B-B14F-4D97-AF65-F5344CB8AC3E}">
        <p14:creationId xmlns:p14="http://schemas.microsoft.com/office/powerpoint/2010/main" val="41490602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476650" cy="24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7164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MergeSort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054312"/>
            <a:ext cx="4448175" cy="2044776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2896770"/>
            <a:ext cx="4448175" cy="235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093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	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Live!</a:t>
            </a:r>
          </a:p>
        </p:txBody>
      </p:sp>
    </p:spTree>
    <p:extLst>
      <p:ext uri="{BB962C8B-B14F-4D97-AF65-F5344CB8AC3E}">
        <p14:creationId xmlns:p14="http://schemas.microsoft.com/office/powerpoint/2010/main" val="1937311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parseInt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7802064" cy="45726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939703"/>
            <a:ext cx="8735736" cy="35032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282839"/>
            <a:ext cx="7041910" cy="3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42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TypeScript</a:t>
            </a:r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Supports pure JS </a:t>
            </a:r>
            <a:r>
              <a:rPr lang="en-GB"/>
              <a:t>aswell</a:t>
            </a:r>
            <a:endParaRPr lang="en-GB"/>
          </a:p>
          <a:p>
            <a:r>
              <a:rPr lang="en-GB" dirty="0"/>
              <a:t>Static typing reduces errors</a:t>
            </a:r>
          </a:p>
          <a:p>
            <a:r>
              <a:rPr lang="en-GB" dirty="0"/>
              <a:t>Better IDE support (e.g. autocomplete)</a:t>
            </a:r>
          </a:p>
          <a:p>
            <a:r>
              <a:rPr lang="en-GB" dirty="0"/>
              <a:t>Functional aspects combined with OOP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1 more step between written and running code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Tooling not as sophisticated as JS yet (e.g. test coverage)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GB" dirty="0"/>
              <a:t>Shared state often needed when building UI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006924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A2E40"/>
      </a:dk2>
      <a:lt2>
        <a:srgbClr val="EBE7DD"/>
      </a:lt2>
      <a:accent1>
        <a:srgbClr val="69A1AB"/>
      </a:accent1>
      <a:accent2>
        <a:srgbClr val="F2C418"/>
      </a:accent2>
      <a:accent3>
        <a:srgbClr val="87492C"/>
      </a:accent3>
      <a:accent4>
        <a:srgbClr val="4A845E"/>
      </a:accent4>
      <a:accent5>
        <a:srgbClr val="DC9528"/>
      </a:accent5>
      <a:accent6>
        <a:srgbClr val="9A5D78"/>
      </a:accent6>
      <a:hlink>
        <a:srgbClr val="66C8E3"/>
      </a:hlink>
      <a:folHlink>
        <a:srgbClr val="B162A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17F9D331-421E-442F-B033-AF5B21A4485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0</TotalTime>
  <Words>385</Words>
  <Application>Microsoft Office PowerPoint</Application>
  <PresentationFormat>Widescreen</PresentationFormat>
  <Paragraphs>145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Franklin Gothic Book</vt:lpstr>
      <vt:lpstr>Symbol</vt:lpstr>
      <vt:lpstr>Wingdings</vt:lpstr>
      <vt:lpstr>Crop</vt:lpstr>
      <vt:lpstr>Typescript</vt:lpstr>
      <vt:lpstr>TypeScript</vt:lpstr>
      <vt:lpstr>PowerPoint Presentation</vt:lpstr>
      <vt:lpstr>PowerPoint Presentation</vt:lpstr>
      <vt:lpstr>Overview</vt:lpstr>
      <vt:lpstr>Basics</vt:lpstr>
      <vt:lpstr>Declare variable</vt:lpstr>
      <vt:lpstr>PowerPoint Presentation</vt:lpstr>
      <vt:lpstr>Types – Part I</vt:lpstr>
      <vt:lpstr>Types – Part II</vt:lpstr>
      <vt:lpstr>Types – Part III</vt:lpstr>
      <vt:lpstr>Undefined &amp; Null</vt:lpstr>
      <vt:lpstr>Objects</vt:lpstr>
      <vt:lpstr>Maps</vt:lpstr>
      <vt:lpstr>Truthy &amp; Falsy</vt:lpstr>
      <vt:lpstr>Operations</vt:lpstr>
      <vt:lpstr>Boolean Expressions</vt:lpstr>
      <vt:lpstr>Operations – Part I</vt:lpstr>
      <vt:lpstr>Operations – Part II</vt:lpstr>
      <vt:lpstr>Operations – Part III</vt:lpstr>
      <vt:lpstr>Loops</vt:lpstr>
      <vt:lpstr>Object oriented programming </vt:lpstr>
      <vt:lpstr>Classes &amp; features</vt:lpstr>
      <vt:lpstr>Getter &amp; Setter</vt:lpstr>
      <vt:lpstr>Class - Getter &amp; Setter</vt:lpstr>
      <vt:lpstr>Interface</vt:lpstr>
      <vt:lpstr>Functions</vt:lpstr>
      <vt:lpstr>Syntax </vt:lpstr>
      <vt:lpstr>Immediately invoked functions </vt:lpstr>
      <vt:lpstr>Typing</vt:lpstr>
      <vt:lpstr>Higher Order Function</vt:lpstr>
      <vt:lpstr>Rest Parameters</vt:lpstr>
      <vt:lpstr>Optional Parameters</vt:lpstr>
      <vt:lpstr>Exercise: Fibonacci I</vt:lpstr>
      <vt:lpstr>Exercise: Fibonacci I</vt:lpstr>
      <vt:lpstr>Lazy Generators (ES6 only!)</vt:lpstr>
      <vt:lpstr>Exercise: Fibonacci II</vt:lpstr>
      <vt:lpstr>Exercise: Fibonacci II</vt:lpstr>
      <vt:lpstr>Arrays</vt:lpstr>
      <vt:lpstr>Operations – Part I</vt:lpstr>
      <vt:lpstr>Operations – Part II</vt:lpstr>
      <vt:lpstr>Operations – Part III</vt:lpstr>
      <vt:lpstr>Filter</vt:lpstr>
      <vt:lpstr>Map</vt:lpstr>
      <vt:lpstr>Reduce</vt:lpstr>
      <vt:lpstr>Exercises</vt:lpstr>
      <vt:lpstr>MapReduce</vt:lpstr>
      <vt:lpstr>MergeSort</vt:lpstr>
      <vt:lpstr>Refactoring </vt:lpstr>
      <vt:lpstr>parseInt</vt:lpstr>
      <vt:lpstr>TypeScript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Typescript</dc:title>
  <dc:creator>nelo112@web.de</dc:creator>
  <cp:lastModifiedBy>nelo112@web.de</cp:lastModifiedBy>
  <cp:revision>63</cp:revision>
  <dcterms:created xsi:type="dcterms:W3CDTF">2017-06-21T18:15:23Z</dcterms:created>
  <dcterms:modified xsi:type="dcterms:W3CDTF">2017-06-26T20:44:33Z</dcterms:modified>
</cp:coreProperties>
</file>