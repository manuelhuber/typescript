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gif" ContentType="image/gif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840" r:id="rId1"/>
  </p:sldMasterIdLst>
  <p:sldIdLst>
    <p:sldId id="256" r:id="rId2"/>
    <p:sldId id="303" r:id="rId3"/>
    <p:sldId id="313" r:id="rId4"/>
    <p:sldId id="314" r:id="rId5"/>
    <p:sldId id="308" r:id="rId6"/>
    <p:sldId id="269" r:id="rId7"/>
    <p:sldId id="257" r:id="rId8"/>
    <p:sldId id="259" r:id="rId9"/>
    <p:sldId id="267" r:id="rId10"/>
    <p:sldId id="262" r:id="rId11"/>
    <p:sldId id="311" r:id="rId12"/>
    <p:sldId id="264" r:id="rId13"/>
    <p:sldId id="263" r:id="rId14"/>
    <p:sldId id="265" r:id="rId15"/>
    <p:sldId id="268" r:id="rId16"/>
    <p:sldId id="276" r:id="rId17"/>
    <p:sldId id="270" r:id="rId18"/>
    <p:sldId id="271" r:id="rId19"/>
    <p:sldId id="273" r:id="rId20"/>
    <p:sldId id="275" r:id="rId21"/>
    <p:sldId id="272" r:id="rId22"/>
    <p:sldId id="281" r:id="rId23"/>
    <p:sldId id="277" r:id="rId24"/>
    <p:sldId id="278" r:id="rId25"/>
    <p:sldId id="279" r:id="rId26"/>
    <p:sldId id="280" r:id="rId27"/>
    <p:sldId id="285" r:id="rId28"/>
    <p:sldId id="286" r:id="rId29"/>
    <p:sldId id="288" r:id="rId30"/>
    <p:sldId id="289" r:id="rId31"/>
    <p:sldId id="310" r:id="rId32"/>
    <p:sldId id="287" r:id="rId33"/>
    <p:sldId id="290" r:id="rId34"/>
    <p:sldId id="300" r:id="rId35"/>
    <p:sldId id="291" r:id="rId36"/>
    <p:sldId id="292" r:id="rId37"/>
    <p:sldId id="301" r:id="rId38"/>
    <p:sldId id="293" r:id="rId39"/>
    <p:sldId id="283" r:id="rId40"/>
    <p:sldId id="284" r:id="rId41"/>
    <p:sldId id="294" r:id="rId42"/>
    <p:sldId id="296" r:id="rId43"/>
    <p:sldId id="297" r:id="rId44"/>
    <p:sldId id="298" r:id="rId45"/>
    <p:sldId id="299" r:id="rId46"/>
    <p:sldId id="302" r:id="rId47"/>
    <p:sldId id="295" r:id="rId48"/>
    <p:sldId id="304" r:id="rId49"/>
    <p:sldId id="305" r:id="rId50"/>
    <p:sldId id="306" r:id="rId51"/>
    <p:sldId id="312" r:id="rId5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DFCF124C-5AFE-49D5-BB84-7D20E5B033C4}">
          <p14:sldIdLst>
            <p14:sldId id="256"/>
            <p14:sldId id="303"/>
            <p14:sldId id="313"/>
            <p14:sldId id="314"/>
          </p14:sldIdLst>
        </p14:section>
        <p14:section name="Summary Section" id="{FC962BEB-3E83-41E1-A56D-D9F400005E1C}">
          <p14:sldIdLst>
            <p14:sldId id="308"/>
          </p14:sldIdLst>
        </p14:section>
        <p14:section name="_Basics" id="{3FDA1A42-9D8A-4EB7-9325-9494EE2103A6}">
          <p14:sldIdLst>
            <p14:sldId id="269"/>
          </p14:sldIdLst>
        </p14:section>
        <p14:section name="Declare variable" id="{181E29B0-F18C-4551-AB2A-BCD841CBADCD}">
          <p14:sldIdLst>
            <p14:sldId id="257"/>
            <p14:sldId id="259"/>
          </p14:sldIdLst>
        </p14:section>
        <p14:section name="Types – Part 1" id="{FC40A588-AE5F-495D-B336-7D287693925D}">
          <p14:sldIdLst>
            <p14:sldId id="267"/>
            <p14:sldId id="262"/>
            <p14:sldId id="311"/>
            <p14:sldId id="264"/>
          </p14:sldIdLst>
        </p14:section>
        <p14:section name="Objects" id="{35CAD9EE-E5D4-46A0-ACA4-47DEA4E5BB8C}">
          <p14:sldIdLst>
            <p14:sldId id="263"/>
            <p14:sldId id="265"/>
          </p14:sldIdLst>
        </p14:section>
        <p14:section name="Truthy &amp; Falsy" id="{17F2CB21-DAB8-4FCD-AA54-380F6DC44B82}">
          <p14:sldIdLst>
            <p14:sldId id="268"/>
          </p14:sldIdLst>
        </p14:section>
        <p14:section name="_Operations" id="{1911C78B-51E3-4DD5-A36B-D4A7ACDEBBCE}">
          <p14:sldIdLst>
            <p14:sldId id="276"/>
          </p14:sldIdLst>
        </p14:section>
        <p14:section name="Boolean Expressions" id="{3910ABA5-024F-44BF-BAB4-0E6816D359A1}">
          <p14:sldIdLst>
            <p14:sldId id="270"/>
          </p14:sldIdLst>
        </p14:section>
        <p14:section name="Operations" id="{B858D946-C53A-4708-B422-12CE0E78A702}">
          <p14:sldIdLst>
            <p14:sldId id="271"/>
            <p14:sldId id="273"/>
            <p14:sldId id="275"/>
          </p14:sldIdLst>
        </p14:section>
        <p14:section name="Loops" id="{F0BA19BB-1530-418C-AB6F-FB3A325142B5}">
          <p14:sldIdLst>
            <p14:sldId id="272"/>
          </p14:sldIdLst>
        </p14:section>
        <p14:section name="_OOP" id="{AE89D0ED-BC0D-46FE-875F-397CC3B09DA4}">
          <p14:sldIdLst>
            <p14:sldId id="281"/>
          </p14:sldIdLst>
        </p14:section>
        <p14:section name="Class" id="{1F34B62B-A216-477C-B3CB-127D7BAB8C5F}">
          <p14:sldIdLst>
            <p14:sldId id="277"/>
            <p14:sldId id="278"/>
            <p14:sldId id="279"/>
          </p14:sldIdLst>
        </p14:section>
        <p14:section name="Interface" id="{C5D8CD8D-8FD5-4EEC-86B2-3A92DC7DA6DA}">
          <p14:sldIdLst>
            <p14:sldId id="280"/>
          </p14:sldIdLst>
        </p14:section>
        <p14:section name="_Functions" id="{FA2D006A-90CB-48EC-919F-8385A1939BD7}">
          <p14:sldIdLst>
            <p14:sldId id="285"/>
          </p14:sldIdLst>
        </p14:section>
        <p14:section name="Syntax" id="{7E4CB3D5-4115-4DA7-96C8-D3B2B1B3D791}">
          <p14:sldIdLst>
            <p14:sldId id="286"/>
            <p14:sldId id="288"/>
          </p14:sldIdLst>
        </p14:section>
        <p14:section name="Typing" id="{93DEBB8D-ECA1-4F89-BB41-46DAD797472D}">
          <p14:sldIdLst>
            <p14:sldId id="289"/>
            <p14:sldId id="310"/>
          </p14:sldIdLst>
        </p14:section>
        <p14:section name="Rest Parameters" id="{8599694B-A55B-4BD9-9ACA-F632C7D1925D}">
          <p14:sldIdLst>
            <p14:sldId id="287"/>
            <p14:sldId id="290"/>
            <p14:sldId id="300"/>
            <p14:sldId id="291"/>
          </p14:sldIdLst>
        </p14:section>
        <p14:section name="Lazy Generators (ES6 only!)" id="{106C052C-0C44-4E41-9330-8FE4C9B1E510}">
          <p14:sldIdLst>
            <p14:sldId id="292"/>
            <p14:sldId id="301"/>
            <p14:sldId id="293"/>
          </p14:sldIdLst>
        </p14:section>
        <p14:section name="_Arrays" id="{8D399660-254B-4018-8AAE-4022D3519FBC}">
          <p14:sldIdLst>
            <p14:sldId id="283"/>
          </p14:sldIdLst>
        </p14:section>
        <p14:section name="Operations" id="{53560B42-0755-411A-BE43-64585385B195}">
          <p14:sldIdLst>
            <p14:sldId id="284"/>
            <p14:sldId id="294"/>
            <p14:sldId id="296"/>
          </p14:sldIdLst>
        </p14:section>
        <p14:section name="Filter" id="{D9040914-A825-45D3-A1B0-0F1F7B6DAA89}">
          <p14:sldIdLst>
            <p14:sldId id="297"/>
          </p14:sldIdLst>
        </p14:section>
        <p14:section name="Map" id="{37FABDBF-9C64-496D-BE49-D1455AB6FE36}">
          <p14:sldIdLst>
            <p14:sldId id="298"/>
          </p14:sldIdLst>
        </p14:section>
        <p14:section name="Reduce" id="{5FA8F333-0FFA-49E3-B70B-F988FB93C4CF}">
          <p14:sldIdLst>
            <p14:sldId id="299"/>
          </p14:sldIdLst>
        </p14:section>
        <p14:section name="Exercises" id="{67F6FD5E-7F28-4A75-9591-70B24B5D76BC}">
          <p14:sldIdLst>
            <p14:sldId id="302"/>
            <p14:sldId id="295"/>
            <p14:sldId id="304"/>
            <p14:sldId id="305"/>
            <p14:sldId id="306"/>
            <p14:sldId id="31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FEDE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93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360" y="10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54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15128" y="1788454"/>
            <a:ext cx="8361229" cy="2098226"/>
          </a:xfrm>
        </p:spPr>
        <p:txBody>
          <a:bodyPr anchor="b">
            <a:noAutofit/>
          </a:bodyPr>
          <a:lstStyle>
            <a:lvl1pPr algn="ct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9906" y="3956279"/>
            <a:ext cx="6831673" cy="1086237"/>
          </a:xfrm>
        </p:spPr>
        <p:txBody>
          <a:bodyPr>
            <a:normAutofit/>
          </a:bodyPr>
          <a:lstStyle>
            <a:lvl1pPr marL="0" indent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>
                <a:solidFill>
                  <a:schemeClr val="bg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52858" y="6453386"/>
            <a:ext cx="1607944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87DE6118-2437-4B30-8E3C-4D2BE6020583}" type="datetimeFigureOut">
              <a:rPr lang="en-US" smtClean="0"/>
              <a:pPr/>
              <a:t>6/26/2017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054" y="6453386"/>
            <a:ext cx="7023377" cy="404614"/>
          </a:xfrm>
        </p:spPr>
        <p:txBody>
          <a:bodyPr/>
          <a:lstStyle>
            <a:lvl1pPr algn="ctr">
              <a:defRPr baseline="0"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9" name="Group 8"/>
          <p:cNvGrpSpPr/>
          <p:nvPr/>
        </p:nvGrpSpPr>
        <p:grpSpPr>
          <a:xfrm>
            <a:off x="752858" y="744469"/>
            <a:ext cx="10674117" cy="5349671"/>
            <a:chOff x="752858" y="744469"/>
            <a:chExt cx="10674117" cy="5349671"/>
          </a:xfrm>
        </p:grpSpPr>
        <p:sp>
          <p:nvSpPr>
            <p:cNvPr id="11" name="Freeform 6"/>
            <p:cNvSpPr/>
            <p:nvPr/>
          </p:nvSpPr>
          <p:spPr bwMode="auto">
            <a:xfrm>
              <a:off x="8151962" y="1685652"/>
              <a:ext cx="3275013" cy="4408488"/>
            </a:xfrm>
            <a:custGeom>
              <a:avLst/>
              <a:gdLst/>
              <a:ahLst/>
              <a:cxnLst/>
              <a:rect l="l" t="t" r="r" b="b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  <p:sp>
          <p:nvSpPr>
            <p:cNvPr id="14" name="Freeform 6"/>
            <p:cNvSpPr/>
            <p:nvPr/>
          </p:nvSpPr>
          <p:spPr bwMode="auto">
            <a:xfrm flipH="1" flipV="1">
              <a:off x="752858" y="744469"/>
              <a:ext cx="3275668" cy="4408488"/>
            </a:xfrm>
            <a:custGeom>
              <a:avLst/>
              <a:gdLst/>
              <a:ahLst/>
              <a:cxnLst/>
              <a:rect l="l" t="t" r="r" b="b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</p:grpSp>
    </p:spTree>
    <p:extLst>
      <p:ext uri="{BB962C8B-B14F-4D97-AF65-F5344CB8AC3E}">
        <p14:creationId xmlns:p14="http://schemas.microsoft.com/office/powerpoint/2010/main" val="26921685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smtClean="0"/>
              <a:t>6/26/2017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95721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5025" y="1301360"/>
            <a:ext cx="9612971" cy="2852737"/>
          </a:xfrm>
        </p:spPr>
        <p:txBody>
          <a:bodyPr anchor="b">
            <a:normAutofit/>
          </a:bodyPr>
          <a:lstStyle>
            <a:lvl1pPr algn="r">
              <a:defRPr sz="7200" cap="all" baseline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5025" y="4216328"/>
            <a:ext cx="9612971" cy="1143324"/>
          </a:xfrm>
        </p:spPr>
        <p:txBody>
          <a:bodyPr/>
          <a:lstStyle>
            <a:lvl1pPr marL="0" indent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38908" y="6453386"/>
            <a:ext cx="1622409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7DE6118-2437-4B30-8E3C-4D2BE6020583}" type="datetimeFigureOut">
              <a:rPr lang="en-US" smtClean="0"/>
              <a:pPr/>
              <a:t>6/26/2017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312" y="6453386"/>
            <a:ext cx="7023377" cy="404614"/>
          </a:xfrm>
        </p:spPr>
        <p:txBody>
          <a:bodyPr/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Freeform 6" title="Crop Mark"/>
          <p:cNvSpPr/>
          <p:nvPr/>
        </p:nvSpPr>
        <p:spPr bwMode="auto">
          <a:xfrm>
            <a:off x="8151962" y="1685652"/>
            <a:ext cx="3275013" cy="4408488"/>
          </a:xfrm>
          <a:custGeom>
            <a:avLst/>
            <a:gdLst/>
            <a:ahLst/>
            <a:cxnLst/>
            <a:rect l="0" t="0" r="r" b="b"/>
            <a:pathLst>
              <a:path w="4125" h="5554">
                <a:moveTo>
                  <a:pt x="3614" y="0"/>
                </a:moveTo>
                <a:lnTo>
                  <a:pt x="4125" y="0"/>
                </a:lnTo>
                <a:lnTo>
                  <a:pt x="4125" y="5554"/>
                </a:lnTo>
                <a:lnTo>
                  <a:pt x="0" y="5554"/>
                </a:lnTo>
                <a:lnTo>
                  <a:pt x="0" y="5074"/>
                </a:lnTo>
                <a:lnTo>
                  <a:pt x="3614" y="5074"/>
                </a:lnTo>
                <a:lnTo>
                  <a:pt x="3614" y="0"/>
                </a:lnTo>
                <a:close/>
              </a:path>
            </a:pathLst>
          </a:custGeom>
          <a:solidFill>
            <a:schemeClr val="accent1"/>
          </a:solidFill>
          <a:ln w="0">
            <a:noFill/>
            <a:prstDash val="solid"/>
            <a:round/>
            <a:headEnd/>
            <a:tailEnd/>
          </a:ln>
        </p:spPr>
      </p:sp>
    </p:spTree>
    <p:extLst>
      <p:ext uri="{BB962C8B-B14F-4D97-AF65-F5344CB8AC3E}">
        <p14:creationId xmlns:p14="http://schemas.microsoft.com/office/powerpoint/2010/main" val="198740069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71600" y="2285999"/>
            <a:ext cx="4447786" cy="3581401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25403" y="2285999"/>
            <a:ext cx="4447786" cy="358140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smtClean="0"/>
              <a:t>6/26/2017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085806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71600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5014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25014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smtClean="0"/>
              <a:t>6/26/2017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66511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smtClean="0"/>
              <a:t>6/26/2017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22969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smtClean="0"/>
              <a:t>6/26/2017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45998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Autofit/>
          </a:bodyPr>
          <a:lstStyle>
            <a:lvl1pPr>
              <a:lnSpc>
                <a:spcPct val="84000"/>
              </a:lnSpc>
              <a:defRPr sz="4800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56020" y="685801"/>
            <a:ext cx="5212080" cy="517525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6344"/>
            <a:ext cx="3855720" cy="3011056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7DE6118-2437-4B30-8E3C-4D2BE6020583}" type="datetimeFigureOut">
              <a:rPr lang="en-US" smtClean="0"/>
              <a:pPr/>
              <a:t>6/26/2017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362173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rmAutofit/>
          </a:bodyPr>
          <a:lstStyle>
            <a:lvl1pPr>
              <a:lnSpc>
                <a:spcPct val="84000"/>
              </a:lnSpc>
              <a:defRPr sz="48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32120" y="0"/>
            <a:ext cx="6659880" cy="6857999"/>
          </a:xfrm>
        </p:spPr>
        <p:txBody>
          <a:bodyPr anchor="t"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5968"/>
            <a:ext cx="3855720" cy="3011432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7DE6118-2437-4B30-8E3C-4D2BE6020583}" type="datetimeFigureOut">
              <a:rPr lang="en-US" smtClean="0"/>
              <a:pPr/>
              <a:t>6/26/2017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4506217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2295525"/>
            <a:ext cx="9601200" cy="3571875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smtClean="0"/>
              <a:t>6/26/2017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858953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596561" y="624156"/>
            <a:ext cx="1565766" cy="52432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624156"/>
            <a:ext cx="8179641" cy="5243244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smtClean="0"/>
              <a:t>6/26/2017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5518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D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286000"/>
            <a:ext cx="9601200" cy="3581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390650" y="6453386"/>
            <a:ext cx="120457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fld id="{87DE6118-2437-4B30-8E3C-4D2BE6020583}" type="datetimeFigureOut">
              <a:rPr lang="en-US" smtClean="0"/>
              <a:pPr/>
              <a:t>6/26/2017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93564" y="6453386"/>
            <a:ext cx="6280830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472736" y="6453386"/>
            <a:ext cx="159629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Rectangle 8" title="Side bar"/>
          <p:cNvSpPr/>
          <p:nvPr/>
        </p:nvSpPr>
        <p:spPr>
          <a:xfrm>
            <a:off x="478095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8926969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41" r:id="rId1"/>
    <p:sldLayoutId id="2147483842" r:id="rId2"/>
    <p:sldLayoutId id="2147483843" r:id="rId3"/>
    <p:sldLayoutId id="2147483844" r:id="rId4"/>
    <p:sldLayoutId id="2147483845" r:id="rId5"/>
    <p:sldLayoutId id="2147483846" r:id="rId6"/>
    <p:sldLayoutId id="2147483847" r:id="rId7"/>
    <p:sldLayoutId id="2147483848" r:id="rId8"/>
    <p:sldLayoutId id="2147483849" r:id="rId9"/>
    <p:sldLayoutId id="2147483850" r:id="rId10"/>
    <p:sldLayoutId id="2147483851" r:id="rId11"/>
  </p:sldLayoutIdLst>
  <p:txStyles>
    <p:titleStyle>
      <a:lvl1pPr algn="l" defTabSz="914400" rtl="0" eaLnBrk="1" latinLnBrk="0" hangingPunct="1">
        <a:lnSpc>
          <a:spcPct val="89000"/>
        </a:lnSpc>
        <a:spcBef>
          <a:spcPct val="0"/>
        </a:spcBef>
        <a:buNone/>
        <a:defRPr sz="4400" kern="1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914400" rtl="0" eaLnBrk="1" latinLnBrk="0" hangingPunct="1">
        <a:lnSpc>
          <a:spcPct val="94000"/>
        </a:lnSpc>
        <a:spcBef>
          <a:spcPts val="1000"/>
        </a:spcBef>
        <a:spcAft>
          <a:spcPts val="200"/>
        </a:spcAft>
        <a:buFont typeface="Franklin Gothic Book" panose="020B0503020102020204" pitchFamily="34" charset="0"/>
        <a:buChar char="■"/>
        <a:defRPr sz="2000" kern="1200" baseline="0">
          <a:solidFill>
            <a:schemeClr val="tx2"/>
          </a:solidFill>
          <a:latin typeface="+mn-lt"/>
          <a:ea typeface="+mn-ea"/>
          <a:cs typeface="+mn-cs"/>
        </a:defRPr>
      </a:lvl1pPr>
      <a:lvl2pPr marL="914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20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371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8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828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80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22860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6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432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6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3200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3657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40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4114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3" orient="horz" pos="1368">
          <p15:clr>
            <a:srgbClr val="F26B43"/>
          </p15:clr>
        </p15:guide>
        <p15:guide id="4" orient="horz" pos="1440">
          <p15:clr>
            <a:srgbClr val="F26B43"/>
          </p15:clr>
        </p15:guide>
        <p15:guide id="6" orient="horz" pos="3696">
          <p15:clr>
            <a:srgbClr val="F26B43"/>
          </p15:clr>
        </p15:guide>
        <p15:guide id="7" orient="horz" pos="432">
          <p15:clr>
            <a:srgbClr val="F26B43"/>
          </p15:clr>
        </p15:guide>
        <p15:guide id="8" orient="horz" pos="1512">
          <p15:clr>
            <a:srgbClr val="F26B43"/>
          </p15:clr>
        </p15:guide>
        <p15:guide id="9" pos="6912">
          <p15:clr>
            <a:srgbClr val="F26B43"/>
          </p15:clr>
        </p15:guide>
        <p15:guide id="10" pos="936">
          <p15:clr>
            <a:srgbClr val="F26B43"/>
          </p15:clr>
        </p15:guide>
        <p15:guide id="11" pos="86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slide" Target="slide16.xml"/><Relationship Id="rId3" Type="http://schemas.openxmlformats.org/officeDocument/2006/relationships/image" Target="../media/image4.png"/><Relationship Id="rId7" Type="http://schemas.openxmlformats.org/officeDocument/2006/relationships/slide" Target="slide6.xm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slide" Target="slide39.xml"/><Relationship Id="rId5" Type="http://schemas.openxmlformats.org/officeDocument/2006/relationships/image" Target="../media/image6.png"/><Relationship Id="rId10" Type="http://schemas.openxmlformats.org/officeDocument/2006/relationships/slide" Target="slide27.xml"/><Relationship Id="rId4" Type="http://schemas.openxmlformats.org/officeDocument/2006/relationships/image" Target="../media/image5.png"/><Relationship Id="rId9" Type="http://schemas.openxmlformats.org/officeDocument/2006/relationships/slide" Target="slide2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slide" Target="slide13.xml"/><Relationship Id="rId3" Type="http://schemas.openxmlformats.org/officeDocument/2006/relationships/image" Target="../media/image9.png"/><Relationship Id="rId7" Type="http://schemas.openxmlformats.org/officeDocument/2006/relationships/slide" Target="slide9.xm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slide" Target="slide7.xml"/><Relationship Id="rId5" Type="http://schemas.openxmlformats.org/officeDocument/2006/relationships/image" Target="../media/image11.png"/><Relationship Id="rId10" Type="http://schemas.openxmlformats.org/officeDocument/2006/relationships/slide" Target="slide5.xml"/><Relationship Id="rId4" Type="http://schemas.openxmlformats.org/officeDocument/2006/relationships/image" Target="../media/image10.png"/><Relationship Id="rId9" Type="http://schemas.openxmlformats.org/officeDocument/2006/relationships/slide" Target="slide1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" Target="slide6.xml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gif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" Target="slide6.xml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" Target="slide6.xml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" Target="slide6.xml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" Target="slide6.xml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" Target="slide6.xml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slide" Target="slide6.xml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slide" Target="slide6.xml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slide" Target="slide5.xml"/><Relationship Id="rId3" Type="http://schemas.openxmlformats.org/officeDocument/2006/relationships/image" Target="../media/image23.png"/><Relationship Id="rId7" Type="http://schemas.openxmlformats.org/officeDocument/2006/relationships/slide" Target="slide21.xml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slide" Target="slide18.xml"/><Relationship Id="rId5" Type="http://schemas.openxmlformats.org/officeDocument/2006/relationships/slide" Target="slide17.xml"/><Relationship Id="rId4" Type="http://schemas.openxmlformats.org/officeDocument/2006/relationships/image" Target="../media/image2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slide" Target="slide16.xml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5.xml"/><Relationship Id="rId4" Type="http://schemas.openxmlformats.org/officeDocument/2006/relationships/slide" Target="slide16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5.xml"/><Relationship Id="rId4" Type="http://schemas.openxmlformats.org/officeDocument/2006/relationships/slide" Target="slide16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slide" Target="slide16.xml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5.xml"/><Relationship Id="rId4" Type="http://schemas.openxmlformats.org/officeDocument/2006/relationships/slide" Target="slide16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6" Type="http://schemas.openxmlformats.org/officeDocument/2006/relationships/slide" Target="slide5.xml"/><Relationship Id="rId5" Type="http://schemas.openxmlformats.org/officeDocument/2006/relationships/slide" Target="slide26.xml"/><Relationship Id="rId4" Type="http://schemas.openxmlformats.org/officeDocument/2006/relationships/slide" Target="slide2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slide" Target="slide22.xml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4.xml"/><Relationship Id="rId4" Type="http://schemas.openxmlformats.org/officeDocument/2006/relationships/slide" Target="slide2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4.xml"/><Relationship Id="rId4" Type="http://schemas.openxmlformats.org/officeDocument/2006/relationships/slide" Target="slide2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slide" Target="slide22.xml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slide" Target="slide32.xml"/><Relationship Id="rId3" Type="http://schemas.openxmlformats.org/officeDocument/2006/relationships/image" Target="../media/image43.png"/><Relationship Id="rId7" Type="http://schemas.openxmlformats.org/officeDocument/2006/relationships/slide" Target="slide30.xml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6" Type="http://schemas.openxmlformats.org/officeDocument/2006/relationships/slide" Target="slide28.xml"/><Relationship Id="rId5" Type="http://schemas.openxmlformats.org/officeDocument/2006/relationships/image" Target="../media/image45.png"/><Relationship Id="rId10" Type="http://schemas.openxmlformats.org/officeDocument/2006/relationships/slide" Target="slide5.xml"/><Relationship Id="rId4" Type="http://schemas.openxmlformats.org/officeDocument/2006/relationships/image" Target="../media/image44.png"/><Relationship Id="rId9" Type="http://schemas.openxmlformats.org/officeDocument/2006/relationships/slide" Target="slide36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4.xml"/><Relationship Id="rId4" Type="http://schemas.openxmlformats.org/officeDocument/2006/relationships/slide" Target="slide2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slide" Target="slide27.xml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slide" Target="slide27.xml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slide" Target="slide27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slide" Target="slide27.xml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slide" Target="slide27.xml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slide" Target="slide44.xml"/><Relationship Id="rId3" Type="http://schemas.openxmlformats.org/officeDocument/2006/relationships/image" Target="../media/image58.png"/><Relationship Id="rId7" Type="http://schemas.openxmlformats.org/officeDocument/2006/relationships/slide" Target="slide43.xml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Relationship Id="rId6" Type="http://schemas.openxmlformats.org/officeDocument/2006/relationships/slide" Target="slide40.xml"/><Relationship Id="rId5" Type="http://schemas.openxmlformats.org/officeDocument/2006/relationships/image" Target="../media/image60.png"/><Relationship Id="rId10" Type="http://schemas.openxmlformats.org/officeDocument/2006/relationships/slide" Target="slide5.xml"/><Relationship Id="rId4" Type="http://schemas.openxmlformats.org/officeDocument/2006/relationships/image" Target="../media/image59.png"/><Relationship Id="rId9" Type="http://schemas.openxmlformats.org/officeDocument/2006/relationships/slide" Target="slide45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slide" Target="slide39.xml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slide" Target="slide39.xml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5.xml"/><Relationship Id="rId4" Type="http://schemas.openxmlformats.org/officeDocument/2006/relationships/slide" Target="slide39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slide" Target="slide39.xml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slide" Target="slide39.xml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slide" Target="slide39.xml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8.png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4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4.png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Typescript</a:t>
            </a:r>
            <a:endParaRPr lang="de-DE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>
                <a:solidFill>
                  <a:schemeClr val="tx1"/>
                </a:solidFill>
              </a:rPr>
              <a:t>It’s JavaScript but not terrible</a:t>
            </a:r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07390" y="-150829"/>
            <a:ext cx="518474" cy="7475456"/>
          </a:xfrm>
          <a:prstGeom prst="rect">
            <a:avLst/>
          </a:prstGeom>
          <a:solidFill>
            <a:srgbClr val="EFEDE3"/>
          </a:solidFill>
        </p:spPr>
        <p:txBody>
          <a:bodyPr wrap="square" rtlCol="0">
            <a:spAutoFit/>
          </a:bodyPr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247951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TypeScript</a:t>
            </a:r>
            <a:endParaRPr lang="de-D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r>
              <a:rPr lang="de-DE" dirty="0" err="1"/>
              <a:t>OpenSource</a:t>
            </a:r>
            <a:r>
              <a:rPr lang="de-DE" dirty="0"/>
              <a:t> Project </a:t>
            </a:r>
            <a:r>
              <a:rPr lang="de-DE" dirty="0" err="1"/>
              <a:t>by</a:t>
            </a:r>
            <a:r>
              <a:rPr lang="de-DE" dirty="0"/>
              <a:t> Microsoft</a:t>
            </a:r>
          </a:p>
          <a:p>
            <a:r>
              <a:rPr lang="de-DE" dirty="0" err="1"/>
              <a:t>Compiles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JavaScript</a:t>
            </a:r>
          </a:p>
          <a:p>
            <a:pPr lvl="1"/>
            <a:r>
              <a:rPr lang="de-DE" dirty="0"/>
              <a:t>ES5 </a:t>
            </a:r>
            <a:r>
              <a:rPr lang="de-DE" dirty="0" err="1"/>
              <a:t>vs</a:t>
            </a:r>
            <a:r>
              <a:rPr lang="de-DE" dirty="0"/>
              <a:t> ES6</a:t>
            </a:r>
          </a:p>
          <a:p>
            <a:r>
              <a:rPr lang="de-DE" dirty="0" err="1"/>
              <a:t>Designed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compensate</a:t>
            </a:r>
            <a:r>
              <a:rPr lang="de-DE" dirty="0"/>
              <a:t> JS </a:t>
            </a:r>
            <a:r>
              <a:rPr lang="de-DE" dirty="0" err="1"/>
              <a:t>weaknesses</a:t>
            </a:r>
            <a:endParaRPr lang="de-DE" dirty="0"/>
          </a:p>
          <a:p>
            <a:pPr lvl="1"/>
            <a:r>
              <a:rPr lang="de-DE" dirty="0" err="1"/>
              <a:t>Static</a:t>
            </a:r>
            <a:r>
              <a:rPr lang="de-DE" dirty="0"/>
              <a:t> </a:t>
            </a:r>
            <a:r>
              <a:rPr lang="de-DE" dirty="0" err="1"/>
              <a:t>typing</a:t>
            </a:r>
            <a:endParaRPr lang="de-DE" dirty="0"/>
          </a:p>
          <a:p>
            <a:pPr lvl="1"/>
            <a:r>
              <a:rPr lang="de-DE" dirty="0"/>
              <a:t>Large </a:t>
            </a:r>
            <a:r>
              <a:rPr lang="de-DE" dirty="0" err="1"/>
              <a:t>scale</a:t>
            </a:r>
            <a:r>
              <a:rPr lang="de-DE" dirty="0"/>
              <a:t> </a:t>
            </a:r>
            <a:r>
              <a:rPr lang="de-DE" dirty="0" err="1"/>
              <a:t>applications</a:t>
            </a:r>
            <a:endParaRPr lang="de-DE" dirty="0"/>
          </a:p>
          <a:p>
            <a:r>
              <a:rPr lang="de-DE" dirty="0"/>
              <a:t>Adoption rate </a:t>
            </a:r>
            <a:r>
              <a:rPr lang="de-DE" dirty="0" err="1"/>
              <a:t>rising</a:t>
            </a:r>
            <a:r>
              <a:rPr lang="de-DE" dirty="0"/>
              <a:t> (Angular 2)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217354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736" y="3246213"/>
            <a:ext cx="10463868" cy="348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10408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257" y="3224184"/>
            <a:ext cx="7773485" cy="4096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91369" y="3231144"/>
            <a:ext cx="3129094" cy="805343"/>
          </a:xfrm>
          <a:prstGeom prst="rect">
            <a:avLst/>
          </a:prstGeom>
          <a:solidFill>
            <a:srgbClr val="EFEDE3"/>
          </a:solidFill>
        </p:spPr>
        <p:txBody>
          <a:bodyPr wrap="square" rtlCol="0">
            <a:spAutoFit/>
          </a:bodyPr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761607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Overview</a:t>
            </a:r>
            <a:endParaRPr lang="de-DE" dirty="0"/>
          </a:p>
        </p:txBody>
      </p:sp>
      <mc:AlternateContent xmlns:mc="http://schemas.openxmlformats.org/markup-compatibility/2006">
        <mc:Choice xmlns:psuz="http://schemas.microsoft.com/office/powerpoint/2016/summaryzoom" Requires="psuz">
          <p:graphicFrame>
            <p:nvGraphicFramePr>
              <p:cNvPr id="5" name="Summary Zoom 4"/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532360900"/>
                  </p:ext>
                </p:extLst>
              </p:nvPr>
            </p:nvGraphicFramePr>
            <p:xfrm>
              <a:off x="1371600" y="2286000"/>
              <a:ext cx="9601200" cy="3581400"/>
            </p:xfrm>
            <a:graphic>
              <a:graphicData uri="http://schemas.microsoft.com/office/powerpoint/2016/summaryzoom">
                <psuz:summaryZm>
                  <psuz:summaryZmObj sectionId="{3FDA1A42-9D8A-4EB7-9325-9494EE2103A6}">
                    <psuz:zmPr id="{3395519D-45FF-44FF-B105-A7A5EFE13F75}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395480" y="125349"/>
                          <a:ext cx="2865119" cy="1611630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1911C78B-51E3-4DD5-A36B-D4A7ACDEBBCE}">
                    <psuz:zmPr id="{3933968F-3311-4347-BA0B-A76EC9C87CBD}" transitionDur="1000">
                      <p166:blipFill xmlns:p166="http://schemas.microsoft.com/office/powerpoint/2016/6/main">
                        <a:blip r:embed="rId3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3368041" y="125349"/>
                          <a:ext cx="2865119" cy="1611630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AE89D0ED-BC0D-46FE-875F-397CC3B09DA4}">
                    <psuz:zmPr id="{44A75D2B-7990-40B8-82D9-B2D2AEAC7E55}" transitionDur="1000">
                      <p166:blipFill xmlns:p166="http://schemas.microsoft.com/office/powerpoint/2016/6/main">
                        <a:blip r:embed="rId4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6340602" y="125349"/>
                          <a:ext cx="2865119" cy="1611630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FA2D006A-90CB-48EC-919F-8385A1939BD7}">
                    <psuz:zmPr id="{5018C5BE-94C1-4A34-88EB-52133848311C}" transitionDur="1000">
                      <p166:blipFill xmlns:p166="http://schemas.microsoft.com/office/powerpoint/2016/6/main">
                        <a:blip r:embed="rId5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395480" y="1844421"/>
                          <a:ext cx="2865119" cy="1611630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8D399660-254B-4018-8AAE-4022D3519FBC}">
                    <psuz:zmPr id="{49658197-A2DC-4105-A546-CFD444D86FCA}" transitionDur="1000">
                      <p166:blipFill xmlns:p166="http://schemas.microsoft.com/office/powerpoint/2016/6/main">
                        <a:blip r:embed="rId6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3368041" y="1844421"/>
                          <a:ext cx="2865119" cy="1611630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gridLayout/>
                </psuz:summaryZm>
              </a:graphicData>
            </a:graphic>
          </p:graphicFrame>
        </mc:Choice>
        <mc:Fallback>
          <p:grpSp>
            <p:nvGrpSpPr>
              <p:cNvPr id="5" name="Summary Zoom 4"/>
              <p:cNvGrpSpPr>
                <a:grpSpLocks noGrp="1" noUngrp="1" noRot="1" noChangeAspect="1" noMove="1" noResize="1"/>
              </p:cNvGrpSpPr>
              <p:nvPr/>
            </p:nvGrpSpPr>
            <p:grpSpPr>
              <a:xfrm>
                <a:off x="1371600" y="2286000"/>
                <a:ext cx="9601200" cy="3581400"/>
                <a:chOff x="1371600" y="2286000"/>
                <a:chExt cx="9601200" cy="3581400"/>
              </a:xfrm>
            </p:grpSpPr>
            <p:pic>
              <p:nvPicPr>
                <p:cNvPr id="3" name="Picture 3">
                  <a:hlinkClick r:id="rId7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1767080" y="2411349"/>
                  <a:ext cx="2865119" cy="1611630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4" name="Picture 4">
                  <a:hlinkClick r:id="rId8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4739641" y="2411349"/>
                  <a:ext cx="2865119" cy="1611630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6" name="Picture 6">
                  <a:hlinkClick r:id="rId9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7712202" y="2411349"/>
                  <a:ext cx="2865119" cy="1611630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7" name="Picture 7">
                  <a:hlinkClick r:id="rId10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767080" y="4130421"/>
                  <a:ext cx="2865119" cy="1611630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8" name="Picture 8">
                  <a:hlinkClick r:id="rId11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4739641" y="4130421"/>
                  <a:ext cx="2865119" cy="1611630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</p:grpSp>
        </mc:Fallback>
      </mc:AlternateContent>
    </p:spTree>
    <p:extLst>
      <p:ext uri="{BB962C8B-B14F-4D97-AF65-F5344CB8AC3E}">
        <p14:creationId xmlns:p14="http://schemas.microsoft.com/office/powerpoint/2010/main" val="4061921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Basics</a:t>
            </a:r>
            <a:endParaRPr lang="de-DE" dirty="0"/>
          </a:p>
        </p:txBody>
      </p:sp>
      <mc:AlternateContent xmlns:mc="http://schemas.openxmlformats.org/markup-compatibility/2006">
        <mc:Choice xmlns:psuz="http://schemas.microsoft.com/office/powerpoint/2016/summaryzoom" Requires="psuz">
          <p:graphicFrame>
            <p:nvGraphicFramePr>
              <p:cNvPr id="5" name="Summary Zoom 4"/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082366779"/>
                  </p:ext>
                </p:extLst>
              </p:nvPr>
            </p:nvGraphicFramePr>
            <p:xfrm>
              <a:off x="1371600" y="2286000"/>
              <a:ext cx="9601200" cy="3581400"/>
            </p:xfrm>
            <a:graphic>
              <a:graphicData uri="http://schemas.microsoft.com/office/powerpoint/2016/summaryzoom">
                <psuz:summaryZm>
                  <psuz:summaryZmObj sectionId="{181E29B0-F18C-4551-AB2A-BCD841CBADCD}">
                    <psuz:zmPr id="{8A1D9B56-1123-4529-9F5C-BCED8766C0DA}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1881760" y="125349"/>
                          <a:ext cx="2865119" cy="1611630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FC40A588-AE5F-495D-B336-7D287693925D}">
                    <psuz:zmPr id="{20C14603-2496-4AFB-A656-02CA8269F0E2}" transitionDur="1000">
                      <p166:blipFill xmlns:p166="http://schemas.microsoft.com/office/powerpoint/2016/6/main">
                        <a:blip r:embed="rId3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4854321" y="125349"/>
                          <a:ext cx="2865119" cy="1611630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35CAD9EE-E5D4-46A0-ACA4-47DEA4E5BB8C}">
                    <psuz:zmPr id="{B93A71BD-6C5E-454C-BF70-D93BCD63CB86}" transitionDur="1000">
                      <p166:blipFill xmlns:p166="http://schemas.microsoft.com/office/powerpoint/2016/6/main">
                        <a:blip r:embed="rId4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1881760" y="1844421"/>
                          <a:ext cx="2865119" cy="1611630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17F2CB21-DAB8-4FCD-AA54-380F6DC44B82}">
                    <psuz:zmPr id="{17D86C3E-7C52-409F-A500-B017106D9EED}" transitionDur="1000">
                      <p166:blipFill xmlns:p166="http://schemas.microsoft.com/office/powerpoint/2016/6/main">
                        <a:blip r:embed="rId5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4854321" y="1844421"/>
                          <a:ext cx="2865119" cy="1611630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gridLayout/>
                </psuz:summaryZm>
              </a:graphicData>
            </a:graphic>
          </p:graphicFrame>
        </mc:Choice>
        <mc:Fallback>
          <p:grpSp>
            <p:nvGrpSpPr>
              <p:cNvPr id="5" name="Summary Zoom 4"/>
              <p:cNvGrpSpPr>
                <a:grpSpLocks noGrp="1" noUngrp="1" noRot="1" noChangeAspect="1" noMove="1" noResize="1"/>
              </p:cNvGrpSpPr>
              <p:nvPr/>
            </p:nvGrpSpPr>
            <p:grpSpPr>
              <a:xfrm>
                <a:off x="1371600" y="2286000"/>
                <a:ext cx="9601200" cy="3581400"/>
                <a:chOff x="1371600" y="2286000"/>
                <a:chExt cx="9601200" cy="3581400"/>
              </a:xfrm>
            </p:grpSpPr>
            <p:pic>
              <p:nvPicPr>
                <p:cNvPr id="3" name="Picture 3">
                  <a:hlinkClick r:id="rId6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3253360" y="2411349"/>
                  <a:ext cx="2865119" cy="1611630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4" name="Picture 4">
                  <a:hlinkClick r:id="rId7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6225921" y="2411349"/>
                  <a:ext cx="2865119" cy="1611630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6" name="Picture 6">
                  <a:hlinkClick r:id="rId8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3253360" y="4130421"/>
                  <a:ext cx="2865119" cy="1611630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7" name="Picture 7">
                  <a:hlinkClick r:id="rId9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6225921" y="4130421"/>
                  <a:ext cx="2865119" cy="1611630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</p:grpSp>
        </mc:Fallback>
      </mc:AlternateContent>
      <p:sp>
        <p:nvSpPr>
          <p:cNvPr id="8" name="TextBox 7">
            <a:hlinkClick r:id="rId10" action="ppaction://hlinksldjump"/>
          </p:cNvPr>
          <p:cNvSpPr txBox="1"/>
          <p:nvPr/>
        </p:nvSpPr>
        <p:spPr>
          <a:xfrm>
            <a:off x="712521" y="5938"/>
            <a:ext cx="20544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Overview</a:t>
            </a:r>
            <a:endParaRPr lang="de-DE" sz="2000" dirty="0"/>
          </a:p>
        </p:txBody>
      </p:sp>
    </p:spTree>
    <p:extLst>
      <p:ext uri="{BB962C8B-B14F-4D97-AF65-F5344CB8AC3E}">
        <p14:creationId xmlns:p14="http://schemas.microsoft.com/office/powerpoint/2010/main" val="26193567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Declare variable</a:t>
            </a:r>
            <a:endParaRPr lang="de-DE" dirty="0"/>
          </a:p>
        </p:txBody>
      </p:sp>
      <p:pic>
        <p:nvPicPr>
          <p:cNvPr id="7" name="Content Placeholder 6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747220" y="3276488"/>
            <a:ext cx="8849960" cy="1600423"/>
          </a:xfrm>
          <a:prstGeom prst="rect">
            <a:avLst/>
          </a:prstGeom>
        </p:spPr>
      </p:pic>
      <p:sp>
        <p:nvSpPr>
          <p:cNvPr id="5" name="TextBox 4">
            <a:hlinkClick r:id="rId3" action="ppaction://hlinksldjump"/>
          </p:cNvPr>
          <p:cNvSpPr txBox="1"/>
          <p:nvPr/>
        </p:nvSpPr>
        <p:spPr>
          <a:xfrm>
            <a:off x="712521" y="5938"/>
            <a:ext cx="20544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Basics</a:t>
            </a:r>
            <a:endParaRPr lang="de-DE" sz="2000" dirty="0"/>
          </a:p>
        </p:txBody>
      </p:sp>
    </p:spTree>
    <p:extLst>
      <p:ext uri="{BB962C8B-B14F-4D97-AF65-F5344CB8AC3E}">
        <p14:creationId xmlns:p14="http://schemas.microsoft.com/office/powerpoint/2010/main" val="19295760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http://mediad.publicbroadcasting.net/p/kuow/files/styles/x_large/public/201701/IMG_3143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2500" y="-17813"/>
            <a:ext cx="10287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/>
          <p:cNvSpPr txBox="1"/>
          <p:nvPr/>
        </p:nvSpPr>
        <p:spPr>
          <a:xfrm rot="21230482">
            <a:off x="3527023" y="226274"/>
            <a:ext cx="4630806" cy="365278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 anchor="ctr">
            <a:noAutofit/>
          </a:bodyPr>
          <a:lstStyle/>
          <a:p>
            <a:pPr algn="ctr"/>
            <a:r>
              <a:rPr lang="en-GB" sz="3600" dirty="0"/>
              <a:t>Using</a:t>
            </a:r>
          </a:p>
          <a:p>
            <a:pPr algn="ctr"/>
            <a:r>
              <a:rPr lang="en-GB" sz="8800" dirty="0"/>
              <a:t>VAR</a:t>
            </a:r>
          </a:p>
          <a:p>
            <a:pPr algn="ctr"/>
            <a:r>
              <a:rPr lang="en-GB" sz="3600" dirty="0"/>
              <a:t>is</a:t>
            </a:r>
          </a:p>
          <a:p>
            <a:pPr algn="ctr"/>
            <a:r>
              <a:rPr lang="en-GB" sz="8800" dirty="0"/>
              <a:t>FINE</a:t>
            </a:r>
            <a:endParaRPr lang="de-DE" sz="8800" dirty="0"/>
          </a:p>
        </p:txBody>
      </p:sp>
      <p:pic>
        <p:nvPicPr>
          <p:cNvPr id="1028" name="Picture 4" descr="Ähnliches Foto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1112330">
            <a:off x="3594699" y="122095"/>
            <a:ext cx="4495454" cy="44954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796752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Types – </a:t>
            </a:r>
            <a:r>
              <a:rPr lang="en-GB"/>
              <a:t>Part I</a:t>
            </a:r>
            <a:endParaRPr lang="de-DE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 anchor="ctr">
            <a:normAutofit/>
          </a:bodyPr>
          <a:lstStyle/>
          <a:p>
            <a:r>
              <a:rPr lang="en-GB" sz="2800" dirty="0"/>
              <a:t>Strings</a:t>
            </a:r>
          </a:p>
          <a:p>
            <a:r>
              <a:rPr lang="en-GB" sz="2800" dirty="0"/>
              <a:t>Boolean</a:t>
            </a:r>
          </a:p>
          <a:p>
            <a:r>
              <a:rPr lang="en-GB" sz="2800" dirty="0"/>
              <a:t>Number</a:t>
            </a:r>
          </a:p>
        </p:txBody>
      </p:sp>
      <p:pic>
        <p:nvPicPr>
          <p:cNvPr id="6" name="Content Placeholder 5"/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524625" y="2778120"/>
            <a:ext cx="4448175" cy="2597160"/>
          </a:xfrm>
          <a:prstGeom prst="rect">
            <a:avLst/>
          </a:prstGeom>
        </p:spPr>
      </p:pic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712521" y="5938"/>
            <a:ext cx="20544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Basics</a:t>
            </a:r>
            <a:endParaRPr lang="de-DE" sz="2000" dirty="0"/>
          </a:p>
        </p:txBody>
      </p:sp>
    </p:spTree>
    <p:extLst>
      <p:ext uri="{BB962C8B-B14F-4D97-AF65-F5344CB8AC3E}">
        <p14:creationId xmlns:p14="http://schemas.microsoft.com/office/powerpoint/2010/main" val="15252628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Types – Part II</a:t>
            </a:r>
            <a:endParaRPr lang="de-DE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 anchor="ctr">
            <a:normAutofit/>
          </a:bodyPr>
          <a:lstStyle/>
          <a:p>
            <a:r>
              <a:rPr lang="en-GB" sz="2800" dirty="0"/>
              <a:t>Arrays</a:t>
            </a:r>
          </a:p>
          <a:p>
            <a:r>
              <a:rPr lang="en-GB" sz="2800" dirty="0"/>
              <a:t>Tuples</a:t>
            </a:r>
          </a:p>
          <a:p>
            <a:r>
              <a:rPr lang="en-GB" sz="2800" dirty="0" err="1"/>
              <a:t>Enums</a:t>
            </a:r>
            <a:endParaRPr lang="en-GB" sz="2800" dirty="0"/>
          </a:p>
          <a:p>
            <a:r>
              <a:rPr lang="en-GB" sz="2800" dirty="0"/>
              <a:t>Any</a:t>
            </a:r>
          </a:p>
        </p:txBody>
      </p:sp>
      <p:pic>
        <p:nvPicPr>
          <p:cNvPr id="9" name="Content Placeholder 8"/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796969" y="2286000"/>
            <a:ext cx="3903486" cy="3581400"/>
          </a:xfrm>
          <a:prstGeom prst="rect">
            <a:avLst/>
          </a:prstGeom>
        </p:spPr>
      </p:pic>
      <p:sp>
        <p:nvSpPr>
          <p:cNvPr id="6" name="TextBox 5">
            <a:hlinkClick r:id="rId3" action="ppaction://hlinksldjump"/>
          </p:cNvPr>
          <p:cNvSpPr txBox="1"/>
          <p:nvPr/>
        </p:nvSpPr>
        <p:spPr>
          <a:xfrm>
            <a:off x="712521" y="5938"/>
            <a:ext cx="20544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Basics</a:t>
            </a:r>
            <a:endParaRPr lang="de-DE" sz="2000" dirty="0"/>
          </a:p>
        </p:txBody>
      </p:sp>
    </p:spTree>
    <p:extLst>
      <p:ext uri="{BB962C8B-B14F-4D97-AF65-F5344CB8AC3E}">
        <p14:creationId xmlns:p14="http://schemas.microsoft.com/office/powerpoint/2010/main" val="2962954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Types – Part III</a:t>
            </a:r>
            <a:endParaRPr lang="de-DE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433115" y="3624199"/>
            <a:ext cx="7478169" cy="905001"/>
          </a:xfrm>
          <a:prstGeom prst="rect">
            <a:avLst/>
          </a:prstGeom>
        </p:spPr>
      </p:pic>
      <p:sp>
        <p:nvSpPr>
          <p:cNvPr id="6" name="TextBox 5">
            <a:hlinkClick r:id="rId3" action="ppaction://hlinksldjump"/>
          </p:cNvPr>
          <p:cNvSpPr txBox="1"/>
          <p:nvPr/>
        </p:nvSpPr>
        <p:spPr>
          <a:xfrm>
            <a:off x="712521" y="5938"/>
            <a:ext cx="20544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Basics</a:t>
            </a:r>
            <a:endParaRPr lang="de-DE" sz="2000" dirty="0"/>
          </a:p>
        </p:txBody>
      </p:sp>
    </p:spTree>
    <p:extLst>
      <p:ext uri="{BB962C8B-B14F-4D97-AF65-F5344CB8AC3E}">
        <p14:creationId xmlns:p14="http://schemas.microsoft.com/office/powerpoint/2010/main" val="343993694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Undefined &amp; Null</a:t>
            </a:r>
            <a:endParaRPr lang="de-DE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71600" y="2285999"/>
            <a:ext cx="3435292" cy="3581401"/>
          </a:xfrm>
        </p:spPr>
        <p:txBody>
          <a:bodyPr anchor="ctr"/>
          <a:lstStyle/>
          <a:p>
            <a:r>
              <a:rPr lang="en-GB" dirty="0"/>
              <a:t>‘undefined’ is default value for variables</a:t>
            </a:r>
          </a:p>
          <a:p>
            <a:r>
              <a:rPr lang="en-GB" dirty="0"/>
              <a:t>Functions with no return value return ‘undefined’</a:t>
            </a:r>
          </a:p>
          <a:p>
            <a:r>
              <a:rPr lang="en-GB" dirty="0"/>
              <a:t>‘null’ is explicit no-value </a:t>
            </a:r>
            <a:endParaRPr lang="de-DE" dirty="0"/>
          </a:p>
        </p:txBody>
      </p:sp>
      <p:pic>
        <p:nvPicPr>
          <p:cNvPr id="7" name="Content Placeholder 6"/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4806892" y="3344464"/>
            <a:ext cx="7078298" cy="1464472"/>
          </a:xfrm>
          <a:prstGeom prst="rect">
            <a:avLst/>
          </a:prstGeom>
        </p:spPr>
      </p:pic>
      <p:sp>
        <p:nvSpPr>
          <p:cNvPr id="8" name="TextBox 7">
            <a:hlinkClick r:id="rId3" action="ppaction://hlinksldjump"/>
          </p:cNvPr>
          <p:cNvSpPr txBox="1"/>
          <p:nvPr/>
        </p:nvSpPr>
        <p:spPr>
          <a:xfrm>
            <a:off x="712521" y="5938"/>
            <a:ext cx="20544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Basics</a:t>
            </a:r>
            <a:endParaRPr lang="de-DE" sz="2000" dirty="0"/>
          </a:p>
        </p:txBody>
      </p:sp>
    </p:spTree>
    <p:extLst>
      <p:ext uri="{BB962C8B-B14F-4D97-AF65-F5344CB8AC3E}">
        <p14:creationId xmlns:p14="http://schemas.microsoft.com/office/powerpoint/2010/main" val="29743981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Objects</a:t>
            </a:r>
            <a:endParaRPr lang="de-DE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71600" y="2285999"/>
            <a:ext cx="2982286" cy="3581401"/>
          </a:xfrm>
        </p:spPr>
        <p:txBody>
          <a:bodyPr anchor="ctr"/>
          <a:lstStyle/>
          <a:p>
            <a:r>
              <a:rPr lang="en-GB" dirty="0"/>
              <a:t>Curly brackets</a:t>
            </a:r>
          </a:p>
          <a:p>
            <a:r>
              <a:rPr lang="en-GB" dirty="0"/>
              <a:t>Access properties with dot or brackets</a:t>
            </a:r>
          </a:p>
          <a:p>
            <a:r>
              <a:rPr lang="en-GB" dirty="0"/>
              <a:t>If type “any”: modify &amp; add properties at will</a:t>
            </a:r>
            <a:endParaRPr lang="de-DE" dirty="0"/>
          </a:p>
        </p:txBody>
      </p:sp>
      <p:pic>
        <p:nvPicPr>
          <p:cNvPr id="7" name="Content Placeholder 6"/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4798503" y="2417084"/>
            <a:ext cx="7413858" cy="3319232"/>
          </a:xfrm>
          <a:prstGeom prst="rect">
            <a:avLst/>
          </a:prstGeom>
        </p:spPr>
      </p:pic>
      <p:sp>
        <p:nvSpPr>
          <p:cNvPr id="8" name="TextBox 7">
            <a:hlinkClick r:id="rId3" action="ppaction://hlinksldjump"/>
          </p:cNvPr>
          <p:cNvSpPr txBox="1"/>
          <p:nvPr/>
        </p:nvSpPr>
        <p:spPr>
          <a:xfrm>
            <a:off x="712521" y="5938"/>
            <a:ext cx="20544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Basics</a:t>
            </a:r>
            <a:endParaRPr lang="de-DE" sz="2000" dirty="0"/>
          </a:p>
        </p:txBody>
      </p:sp>
    </p:spTree>
    <p:extLst>
      <p:ext uri="{BB962C8B-B14F-4D97-AF65-F5344CB8AC3E}">
        <p14:creationId xmlns:p14="http://schemas.microsoft.com/office/powerpoint/2010/main" val="309517247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Maps</a:t>
            </a:r>
            <a:endParaRPr lang="de-DE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71600" y="2285999"/>
            <a:ext cx="2923563" cy="3581401"/>
          </a:xfrm>
        </p:spPr>
        <p:txBody>
          <a:bodyPr anchor="ctr"/>
          <a:lstStyle/>
          <a:p>
            <a:r>
              <a:rPr lang="en-GB" dirty="0"/>
              <a:t>Actually just objects</a:t>
            </a:r>
          </a:p>
          <a:p>
            <a:r>
              <a:rPr lang="en-GB" dirty="0"/>
              <a:t>Strings or numbers can be key</a:t>
            </a:r>
          </a:p>
          <a:p>
            <a:r>
              <a:rPr lang="en-GB" dirty="0"/>
              <a:t>With ES6 nicer syntax</a:t>
            </a:r>
            <a:endParaRPr lang="de-DE" dirty="0"/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4504386" y="3246540"/>
            <a:ext cx="7632976" cy="1660320"/>
          </a:xfrm>
          <a:prstGeom prst="rect">
            <a:avLst/>
          </a:prstGeom>
        </p:spPr>
      </p:pic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712521" y="5938"/>
            <a:ext cx="20544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Basics</a:t>
            </a:r>
            <a:endParaRPr lang="de-DE" sz="2000" dirty="0"/>
          </a:p>
        </p:txBody>
      </p:sp>
    </p:spTree>
    <p:extLst>
      <p:ext uri="{BB962C8B-B14F-4D97-AF65-F5344CB8AC3E}">
        <p14:creationId xmlns:p14="http://schemas.microsoft.com/office/powerpoint/2010/main" val="402233948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Truthy &amp; </a:t>
            </a:r>
            <a:r>
              <a:rPr lang="en-GB" dirty="0" err="1"/>
              <a:t>Falsy</a:t>
            </a:r>
            <a:endParaRPr lang="de-DE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71600" y="2285999"/>
            <a:ext cx="3032620" cy="3581401"/>
          </a:xfrm>
        </p:spPr>
        <p:txBody>
          <a:bodyPr anchor="ctr"/>
          <a:lstStyle/>
          <a:p>
            <a:r>
              <a:rPr lang="de-DE" dirty="0"/>
              <a:t>Non-</a:t>
            </a:r>
            <a:r>
              <a:rPr lang="de-DE" dirty="0" err="1"/>
              <a:t>booleans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interpreted</a:t>
            </a:r>
            <a:r>
              <a:rPr lang="de-DE" dirty="0"/>
              <a:t> </a:t>
            </a:r>
            <a:r>
              <a:rPr lang="de-DE" dirty="0" err="1"/>
              <a:t>as</a:t>
            </a:r>
            <a:r>
              <a:rPr lang="de-DE" dirty="0"/>
              <a:t> </a:t>
            </a:r>
            <a:r>
              <a:rPr lang="de-DE" dirty="0" err="1"/>
              <a:t>booleans</a:t>
            </a:r>
            <a:endParaRPr lang="de-DE" dirty="0"/>
          </a:p>
          <a:p>
            <a:r>
              <a:rPr lang="de-DE" dirty="0" err="1"/>
              <a:t>Allow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simple </a:t>
            </a:r>
            <a:r>
              <a:rPr lang="de-DE" dirty="0" err="1"/>
              <a:t>undefined</a:t>
            </a:r>
            <a:r>
              <a:rPr lang="de-DE" dirty="0"/>
              <a:t>/null </a:t>
            </a:r>
            <a:r>
              <a:rPr lang="de-DE" dirty="0" err="1"/>
              <a:t>checks</a:t>
            </a:r>
            <a:endParaRPr lang="de-DE" dirty="0"/>
          </a:p>
          <a:p>
            <a:r>
              <a:rPr lang="de-DE" dirty="0"/>
              <a:t>Can </a:t>
            </a:r>
            <a:r>
              <a:rPr lang="de-DE" dirty="0" err="1"/>
              <a:t>be</a:t>
            </a:r>
            <a:r>
              <a:rPr lang="de-DE" dirty="0"/>
              <a:t> </a:t>
            </a:r>
            <a:r>
              <a:rPr lang="de-DE" dirty="0" err="1"/>
              <a:t>converted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boolean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double </a:t>
            </a:r>
            <a:r>
              <a:rPr lang="de-DE" dirty="0" err="1"/>
              <a:t>negation</a:t>
            </a:r>
            <a:r>
              <a:rPr lang="de-DE" dirty="0"/>
              <a:t> (‚!!‘)</a:t>
            </a:r>
          </a:p>
        </p:txBody>
      </p:sp>
      <p:pic>
        <p:nvPicPr>
          <p:cNvPr id="10" name="Content Placeholder 9"/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4513458" y="2617366"/>
            <a:ext cx="7598054" cy="2918666"/>
          </a:xfrm>
          <a:prstGeom prst="rect">
            <a:avLst/>
          </a:prstGeom>
        </p:spPr>
      </p:pic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712521" y="5938"/>
            <a:ext cx="20544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Basics</a:t>
            </a:r>
            <a:endParaRPr lang="de-DE" sz="2000" dirty="0"/>
          </a:p>
        </p:txBody>
      </p:sp>
    </p:spTree>
    <p:extLst>
      <p:ext uri="{BB962C8B-B14F-4D97-AF65-F5344CB8AC3E}">
        <p14:creationId xmlns:p14="http://schemas.microsoft.com/office/powerpoint/2010/main" val="160021601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Operations</a:t>
            </a:r>
            <a:endParaRPr lang="de-DE" dirty="0"/>
          </a:p>
        </p:txBody>
      </p:sp>
      <mc:AlternateContent xmlns:mc="http://schemas.openxmlformats.org/markup-compatibility/2006">
        <mc:Choice xmlns:psuz="http://schemas.microsoft.com/office/powerpoint/2016/summaryzoom" Requires="psuz">
          <p:graphicFrame>
            <p:nvGraphicFramePr>
              <p:cNvPr id="5" name="Summary Zoom 4"/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680427892"/>
                  </p:ext>
                </p:extLst>
              </p:nvPr>
            </p:nvGraphicFramePr>
            <p:xfrm>
              <a:off x="1371600" y="2286000"/>
              <a:ext cx="9601200" cy="3581400"/>
            </p:xfrm>
            <a:graphic>
              <a:graphicData uri="http://schemas.microsoft.com/office/powerpoint/2016/summaryzoom">
                <psuz:summaryZm>
                  <psuz:summaryZmObj sectionId="{3910ABA5-024F-44BF-BAB4-0E6816D359A1}">
                    <psuz:zmPr id="{1A673881-454C-473C-8982-18DAE9210704}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372046" y="980599"/>
                          <a:ext cx="2880360" cy="1620203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B858D946-C53A-4708-B422-12CE0E78A702}">
                    <psuz:zmPr id="{57F2157F-1F6A-4DFC-84BC-EE6B2C3BEDFA}" transitionDur="1000">
                      <p166:blipFill xmlns:p166="http://schemas.microsoft.com/office/powerpoint/2016/6/main">
                        <a:blip r:embed="rId3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3360420" y="980599"/>
                          <a:ext cx="2880360" cy="1620203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F0BA19BB-1530-418C-AB6F-FB3A325142B5}">
                    <psuz:zmPr id="{A7D8398C-71BB-45B7-8E8F-E01F01D55EF3}" transitionDur="1000">
                      <p166:blipFill xmlns:p166="http://schemas.microsoft.com/office/powerpoint/2016/6/main">
                        <a:blip r:embed="rId4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6348794" y="980599"/>
                          <a:ext cx="2880360" cy="1620203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gridLayout/>
                </psuz:summaryZm>
              </a:graphicData>
            </a:graphic>
          </p:graphicFrame>
        </mc:Choice>
        <mc:Fallback>
          <p:grpSp>
            <p:nvGrpSpPr>
              <p:cNvPr id="5" name="Summary Zoom 4"/>
              <p:cNvGrpSpPr>
                <a:grpSpLocks noGrp="1" noUngrp="1" noRot="1" noChangeAspect="1" noMove="1" noResize="1"/>
              </p:cNvGrpSpPr>
              <p:nvPr/>
            </p:nvGrpSpPr>
            <p:grpSpPr>
              <a:xfrm>
                <a:off x="1371600" y="2286000"/>
                <a:ext cx="9601200" cy="3581400"/>
                <a:chOff x="1371600" y="2286000"/>
                <a:chExt cx="9601200" cy="3581400"/>
              </a:xfrm>
            </p:grpSpPr>
            <p:pic>
              <p:nvPicPr>
                <p:cNvPr id="3" name="Picture 3">
                  <a:hlinkClick r:id="rId5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1743646" y="3266599"/>
                  <a:ext cx="2880360" cy="1620203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4" name="Picture 4">
                  <a:hlinkClick r:id="rId6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4732020" y="3266599"/>
                  <a:ext cx="2880360" cy="1620203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6" name="Picture 6">
                  <a:hlinkClick r:id="rId7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7720394" y="3266599"/>
                  <a:ext cx="2880360" cy="1620203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</p:grpSp>
        </mc:Fallback>
      </mc:AlternateContent>
      <p:sp>
        <p:nvSpPr>
          <p:cNvPr id="7" name="TextBox 6">
            <a:hlinkClick r:id="rId8" action="ppaction://hlinksldjump"/>
          </p:cNvPr>
          <p:cNvSpPr txBox="1"/>
          <p:nvPr/>
        </p:nvSpPr>
        <p:spPr>
          <a:xfrm>
            <a:off x="712521" y="5938"/>
            <a:ext cx="20544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Overview</a:t>
            </a:r>
            <a:endParaRPr lang="de-DE" sz="2000" dirty="0"/>
          </a:p>
        </p:txBody>
      </p:sp>
    </p:spTree>
    <p:extLst>
      <p:ext uri="{BB962C8B-B14F-4D97-AF65-F5344CB8AC3E}">
        <p14:creationId xmlns:p14="http://schemas.microsoft.com/office/powerpoint/2010/main" val="26333946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Boolean Expressions</a:t>
            </a:r>
            <a:endParaRPr lang="de-DE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71600" y="2285999"/>
            <a:ext cx="3032620" cy="3581401"/>
          </a:xfrm>
        </p:spPr>
        <p:txBody>
          <a:bodyPr anchor="ctr"/>
          <a:lstStyle/>
          <a:p>
            <a:r>
              <a:rPr lang="en-GB" dirty="0"/>
              <a:t>Triple equal checks!</a:t>
            </a:r>
          </a:p>
          <a:p>
            <a:r>
              <a:rPr lang="en-GB" dirty="0"/>
              <a:t>Boolean expressions can return non-Boolean values</a:t>
            </a:r>
          </a:p>
          <a:p>
            <a:endParaRPr lang="de-DE" dirty="0"/>
          </a:p>
        </p:txBody>
      </p:sp>
      <p:pic>
        <p:nvPicPr>
          <p:cNvPr id="8" name="Content Placeholder 7"/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4258970" y="2038526"/>
            <a:ext cx="7922472" cy="4076348"/>
          </a:xfrm>
          <a:prstGeom prst="rect">
            <a:avLst/>
          </a:prstGeom>
        </p:spPr>
      </p:pic>
      <p:sp>
        <p:nvSpPr>
          <p:cNvPr id="6" name="TextBox 5">
            <a:hlinkClick r:id="rId3" action="ppaction://hlinksldjump"/>
          </p:cNvPr>
          <p:cNvSpPr txBox="1"/>
          <p:nvPr/>
        </p:nvSpPr>
        <p:spPr>
          <a:xfrm>
            <a:off x="706583" y="5938"/>
            <a:ext cx="20544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Operations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664245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Operations – Part I</a:t>
            </a:r>
            <a:endParaRPr lang="de-DE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Increment/Decrement</a:t>
            </a:r>
            <a:endParaRPr lang="de-DE" dirty="0"/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2564463" y="3781312"/>
            <a:ext cx="2057687" cy="1609950"/>
          </a:xfrm>
          <a:prstGeom prst="rect">
            <a:avLst/>
          </a:prstGeom>
        </p:spPr>
      </p:pic>
      <p:sp>
        <p:nvSpPr>
          <p:cNvPr id="11" name="Text Placeholder 10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Swap Variables</a:t>
            </a:r>
            <a:endParaRPr lang="de-DE" dirty="0"/>
          </a:p>
        </p:txBody>
      </p:sp>
      <p:pic>
        <p:nvPicPr>
          <p:cNvPr id="6" name="Content Placeholder 5"/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524625" y="3969430"/>
            <a:ext cx="4445000" cy="1233714"/>
          </a:xfrm>
          <a:prstGeom prst="rect">
            <a:avLst/>
          </a:prstGeom>
        </p:spPr>
      </p:pic>
      <p:sp>
        <p:nvSpPr>
          <p:cNvPr id="13" name="TextBox 12">
            <a:hlinkClick r:id="rId4" action="ppaction://hlinksldjump"/>
          </p:cNvPr>
          <p:cNvSpPr txBox="1"/>
          <p:nvPr/>
        </p:nvSpPr>
        <p:spPr>
          <a:xfrm>
            <a:off x="706583" y="5938"/>
            <a:ext cx="20544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Operations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9105346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Operations – Part II</a:t>
            </a:r>
            <a:endParaRPr lang="de-DE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If-else</a:t>
            </a:r>
            <a:endParaRPr lang="de-DE" dirty="0"/>
          </a:p>
        </p:txBody>
      </p:sp>
      <p:pic>
        <p:nvPicPr>
          <p:cNvPr id="8" name="Content Placeholder 7"/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1435593" y="4014707"/>
            <a:ext cx="4315427" cy="1143160"/>
          </a:xfrm>
          <a:prstGeom prst="rect">
            <a:avLst/>
          </a:prstGeom>
        </p:spPr>
      </p:pic>
      <p:sp>
        <p:nvSpPr>
          <p:cNvPr id="11" name="Text Placeholder 10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Ternary operator</a:t>
            </a:r>
            <a:endParaRPr lang="de-DE" dirty="0"/>
          </a:p>
        </p:txBody>
      </p:sp>
      <p:pic>
        <p:nvPicPr>
          <p:cNvPr id="14" name="Content Placeholder 13"/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979991" y="4090918"/>
            <a:ext cx="3534268" cy="990738"/>
          </a:xfrm>
          <a:prstGeom prst="rect">
            <a:avLst/>
          </a:prstGeom>
        </p:spPr>
      </p:pic>
      <p:sp>
        <p:nvSpPr>
          <p:cNvPr id="15" name="TextBox 14">
            <a:hlinkClick r:id="rId4" action="ppaction://hlinksldjump"/>
          </p:cNvPr>
          <p:cNvSpPr txBox="1"/>
          <p:nvPr/>
        </p:nvSpPr>
        <p:spPr>
          <a:xfrm>
            <a:off x="706583" y="5938"/>
            <a:ext cx="20544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Operations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68143716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Operations – Part III</a:t>
            </a:r>
            <a:endParaRPr lang="de-DE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71600" y="2171700"/>
            <a:ext cx="4798380" cy="3581400"/>
          </a:xfrm>
          <a:prstGeom prst="rect">
            <a:avLst/>
          </a:prstGeom>
        </p:spPr>
      </p:pic>
      <p:sp>
        <p:nvSpPr>
          <p:cNvPr id="13" name="TextBox 12">
            <a:hlinkClick r:id="rId3" action="ppaction://hlinksldjump"/>
          </p:cNvPr>
          <p:cNvSpPr txBox="1"/>
          <p:nvPr/>
        </p:nvSpPr>
        <p:spPr>
          <a:xfrm>
            <a:off x="706583" y="5938"/>
            <a:ext cx="20544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Operations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69455747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Loops</a:t>
            </a:r>
            <a:endParaRPr lang="de-D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029" y="1829135"/>
            <a:ext cx="4443984" cy="823912"/>
          </a:xfrm>
        </p:spPr>
        <p:txBody>
          <a:bodyPr/>
          <a:lstStyle/>
          <a:p>
            <a:r>
              <a:rPr lang="en-GB" dirty="0"/>
              <a:t>For</a:t>
            </a:r>
            <a:endParaRPr lang="de-DE" dirty="0"/>
          </a:p>
        </p:txBody>
      </p:sp>
      <p:pic>
        <p:nvPicPr>
          <p:cNvPr id="7" name="Content Placeholder 6"/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1371600" y="3705326"/>
            <a:ext cx="4443413" cy="1761922"/>
          </a:xfrm>
          <a:prstGeom prst="rect">
            <a:avLst/>
          </a:prstGeom>
        </p:spPr>
      </p:pic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5014" y="1829135"/>
            <a:ext cx="4443984" cy="823912"/>
          </a:xfrm>
        </p:spPr>
        <p:txBody>
          <a:bodyPr/>
          <a:lstStyle/>
          <a:p>
            <a:r>
              <a:rPr lang="en-GB" dirty="0"/>
              <a:t>While</a:t>
            </a:r>
            <a:endParaRPr lang="de-DE" dirty="0"/>
          </a:p>
        </p:txBody>
      </p:sp>
      <p:pic>
        <p:nvPicPr>
          <p:cNvPr id="9" name="Content Placeholder 8"/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7056201" y="3333575"/>
            <a:ext cx="3381847" cy="2505425"/>
          </a:xfrm>
          <a:prstGeom prst="rect">
            <a:avLst/>
          </a:prstGeom>
        </p:spPr>
      </p:pic>
      <p:sp>
        <p:nvSpPr>
          <p:cNvPr id="10" name="TextBox 9">
            <a:hlinkClick r:id="rId4" action="ppaction://hlinksldjump"/>
          </p:cNvPr>
          <p:cNvSpPr txBox="1"/>
          <p:nvPr/>
        </p:nvSpPr>
        <p:spPr>
          <a:xfrm>
            <a:off x="706583" y="5938"/>
            <a:ext cx="20544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Operations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69592112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Object oriented programming	</a:t>
            </a:r>
            <a:endParaRPr lang="de-DE" dirty="0"/>
          </a:p>
        </p:txBody>
      </p:sp>
      <mc:AlternateContent xmlns:mc="http://schemas.openxmlformats.org/markup-compatibility/2006">
        <mc:Choice xmlns:psuz="http://schemas.microsoft.com/office/powerpoint/2016/summaryzoom" Requires="psuz">
          <p:graphicFrame>
            <p:nvGraphicFramePr>
              <p:cNvPr id="5" name="Summary Zoom 4"/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982935975"/>
                  </p:ext>
                </p:extLst>
              </p:nvPr>
            </p:nvGraphicFramePr>
            <p:xfrm>
              <a:off x="1371600" y="2286000"/>
              <a:ext cx="9601200" cy="3581400"/>
            </p:xfrm>
            <a:graphic>
              <a:graphicData uri="http://schemas.microsoft.com/office/powerpoint/2016/summaryzoom">
                <psuz:summaryZm>
                  <psuz:summaryZmObj sectionId="{1F34B62B-A216-477C-B3CB-127D7BAB8C5F}">
                    <psuz:zmPr id="{94413019-833C-4F41-AF88-A1B53BDC9149}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399050" y="575549"/>
                          <a:ext cx="4320540" cy="2430303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C5D8CD8D-8FD5-4EEC-86B2-3A92DC7DA6DA}">
                    <psuz:zmPr id="{E34F02DA-37B5-4054-82B1-B5AC3EDF6312}" transitionDur="1000">
                      <p166:blipFill xmlns:p166="http://schemas.microsoft.com/office/powerpoint/2016/6/main">
                        <a:blip r:embed="rId3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4881610" y="575549"/>
                          <a:ext cx="4320540" cy="2430303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gridLayout/>
                </psuz:summaryZm>
              </a:graphicData>
            </a:graphic>
          </p:graphicFrame>
        </mc:Choice>
        <mc:Fallback>
          <p:grpSp>
            <p:nvGrpSpPr>
              <p:cNvPr id="5" name="Summary Zoom 4"/>
              <p:cNvGrpSpPr>
                <a:grpSpLocks noGrp="1" noUngrp="1" noRot="1" noChangeAspect="1" noMove="1" noResize="1"/>
              </p:cNvGrpSpPr>
              <p:nvPr/>
            </p:nvGrpSpPr>
            <p:grpSpPr>
              <a:xfrm>
                <a:off x="1371600" y="2286000"/>
                <a:ext cx="9601200" cy="3581400"/>
                <a:chOff x="1371600" y="2286000"/>
                <a:chExt cx="9601200" cy="3581400"/>
              </a:xfrm>
            </p:grpSpPr>
            <p:pic>
              <p:nvPicPr>
                <p:cNvPr id="3" name="Picture 3">
                  <a:hlinkClick r:id="rId4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1770650" y="2861549"/>
                  <a:ext cx="4320540" cy="2430303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4" name="Picture 4">
                  <a:hlinkClick r:id="rId5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6253210" y="2861549"/>
                  <a:ext cx="4320540" cy="2430303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</p:grpSp>
        </mc:Fallback>
      </mc:AlternateContent>
      <p:sp>
        <p:nvSpPr>
          <p:cNvPr id="6" name="TextBox 5">
            <a:hlinkClick r:id="rId6" action="ppaction://hlinksldjump"/>
          </p:cNvPr>
          <p:cNvSpPr txBox="1"/>
          <p:nvPr/>
        </p:nvSpPr>
        <p:spPr>
          <a:xfrm>
            <a:off x="712521" y="5938"/>
            <a:ext cx="20544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Overview</a:t>
            </a:r>
            <a:endParaRPr lang="de-DE" sz="2000" dirty="0"/>
          </a:p>
        </p:txBody>
      </p:sp>
    </p:spTree>
    <p:extLst>
      <p:ext uri="{BB962C8B-B14F-4D97-AF65-F5344CB8AC3E}">
        <p14:creationId xmlns:p14="http://schemas.microsoft.com/office/powerpoint/2010/main" val="302863736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Classes &amp; features</a:t>
            </a:r>
            <a:endParaRPr lang="de-DE" dirty="0"/>
          </a:p>
        </p:txBody>
      </p:sp>
      <p:sp>
        <p:nvSpPr>
          <p:cNvPr id="7" name="Content Placeholder 6"/>
          <p:cNvSpPr>
            <a:spLocks noGrp="1"/>
          </p:cNvSpPr>
          <p:nvPr>
            <p:ph sz="half" idx="1"/>
          </p:nvPr>
        </p:nvSpPr>
        <p:spPr>
          <a:xfrm>
            <a:off x="1371600" y="1772133"/>
            <a:ext cx="4447786" cy="3581401"/>
          </a:xfrm>
        </p:spPr>
        <p:txBody>
          <a:bodyPr anchor="ctr"/>
          <a:lstStyle/>
          <a:p>
            <a:r>
              <a:rPr lang="en-GB" dirty="0"/>
              <a:t>Inheritance</a:t>
            </a:r>
          </a:p>
          <a:p>
            <a:r>
              <a:rPr lang="en-GB" dirty="0"/>
              <a:t>Access restriction (private, public &amp; protected)</a:t>
            </a:r>
          </a:p>
          <a:p>
            <a:r>
              <a:rPr lang="en-GB" dirty="0"/>
              <a:t>Abstract classes, abstract methods</a:t>
            </a:r>
            <a:endParaRPr lang="de-DE" dirty="0"/>
          </a:p>
        </p:txBody>
      </p:sp>
      <p:pic>
        <p:nvPicPr>
          <p:cNvPr id="10" name="Content Placeholder 9"/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524625" y="2440023"/>
            <a:ext cx="4448175" cy="2245620"/>
          </a:xfrm>
          <a:prstGeom prst="rect">
            <a:avLst/>
          </a:prstGeom>
        </p:spPr>
      </p:pic>
      <p:sp>
        <p:nvSpPr>
          <p:cNvPr id="9" name="TextBox 8">
            <a:hlinkClick r:id="rId3" action="ppaction://hlinksldjump"/>
          </p:cNvPr>
          <p:cNvSpPr txBox="1"/>
          <p:nvPr/>
        </p:nvSpPr>
        <p:spPr>
          <a:xfrm>
            <a:off x="706583" y="5938"/>
            <a:ext cx="20544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OOP</a:t>
            </a:r>
            <a:endParaRPr lang="de-DE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52358" y="5507559"/>
            <a:ext cx="8239295" cy="9482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55532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Getter &amp; Setter</a:t>
            </a:r>
            <a:endParaRPr lang="de-DE" dirty="0"/>
          </a:p>
        </p:txBody>
      </p:sp>
      <p:pic>
        <p:nvPicPr>
          <p:cNvPr id="11" name="Content Placeholder 10"/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371600" y="2514169"/>
            <a:ext cx="4448175" cy="3125062"/>
          </a:xfrm>
          <a:prstGeom prst="rect">
            <a:avLst/>
          </a:prstGeom>
        </p:spPr>
      </p:pic>
      <p:pic>
        <p:nvPicPr>
          <p:cNvPr id="13" name="Content Placeholder 12"/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556701" y="2286000"/>
            <a:ext cx="4384023" cy="3581400"/>
          </a:xfrm>
          <a:prstGeom prst="rect">
            <a:avLst/>
          </a:prstGeom>
        </p:spPr>
      </p:pic>
      <p:sp>
        <p:nvSpPr>
          <p:cNvPr id="16" name="TextBox 15">
            <a:hlinkClick r:id="rId4" action="ppaction://hlinksldjump"/>
          </p:cNvPr>
          <p:cNvSpPr txBox="1"/>
          <p:nvPr/>
        </p:nvSpPr>
        <p:spPr>
          <a:xfrm>
            <a:off x="706583" y="5938"/>
            <a:ext cx="20544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OOP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958839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Class - Getter &amp; Setter</a:t>
            </a:r>
            <a:endParaRPr lang="de-DE" dirty="0"/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371600" y="2496250"/>
            <a:ext cx="4448175" cy="3160900"/>
          </a:xfrm>
          <a:prstGeom prst="rect">
            <a:avLst/>
          </a:prstGeom>
        </p:spPr>
      </p:pic>
      <p:pic>
        <p:nvPicPr>
          <p:cNvPr id="6" name="Content Placeholder 5"/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524625" y="3500602"/>
            <a:ext cx="4448175" cy="1152195"/>
          </a:xfrm>
          <a:prstGeom prst="rect">
            <a:avLst/>
          </a:prstGeom>
        </p:spPr>
      </p:pic>
      <p:sp>
        <p:nvSpPr>
          <p:cNvPr id="9" name="TextBox 8">
            <a:hlinkClick r:id="rId4" action="ppaction://hlinksldjump"/>
          </p:cNvPr>
          <p:cNvSpPr txBox="1"/>
          <p:nvPr/>
        </p:nvSpPr>
        <p:spPr>
          <a:xfrm>
            <a:off x="706583" y="5938"/>
            <a:ext cx="20544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OOP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68603784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Interface</a:t>
            </a:r>
            <a:endParaRPr lang="de-DE" dirty="0"/>
          </a:p>
        </p:txBody>
      </p:sp>
      <p:pic>
        <p:nvPicPr>
          <p:cNvPr id="13" name="Content Placeholder 12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43125" y="2286000"/>
            <a:ext cx="8058149" cy="3581400"/>
          </a:xfrm>
          <a:prstGeom prst="rect">
            <a:avLst/>
          </a:prstGeom>
        </p:spPr>
      </p:pic>
      <p:sp>
        <p:nvSpPr>
          <p:cNvPr id="15" name="TextBox 14">
            <a:hlinkClick r:id="rId3" action="ppaction://hlinksldjump"/>
          </p:cNvPr>
          <p:cNvSpPr txBox="1"/>
          <p:nvPr/>
        </p:nvSpPr>
        <p:spPr>
          <a:xfrm>
            <a:off x="706583" y="5938"/>
            <a:ext cx="20544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OOP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3143909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Functions</a:t>
            </a:r>
            <a:endParaRPr lang="de-DE" dirty="0"/>
          </a:p>
        </p:txBody>
      </p:sp>
      <mc:AlternateContent xmlns:mc="http://schemas.openxmlformats.org/markup-compatibility/2006">
        <mc:Choice xmlns:psuz="http://schemas.microsoft.com/office/powerpoint/2016/summaryzoom" Requires="psuz">
          <p:graphicFrame>
            <p:nvGraphicFramePr>
              <p:cNvPr id="4" name="Content Placeholder 3"/>
              <p:cNvGraphicFramePr>
                <a:graphicFrameLocks noGrp="1" noChangeAspect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1563637907"/>
                  </p:ext>
                </p:extLst>
              </p:nvPr>
            </p:nvGraphicFramePr>
            <p:xfrm>
              <a:off x="1371600" y="2286000"/>
              <a:ext cx="9601200" cy="3581400"/>
            </p:xfrm>
            <a:graphic>
              <a:graphicData uri="http://schemas.microsoft.com/office/powerpoint/2016/summaryzoom">
                <psuz:summaryZm>
                  <psuz:summaryZmObj sectionId="{7E4CB3D5-4115-4DA7-96C8-D3B2B1B3D791}">
                    <psuz:zmPr id="{18EF9BCE-5C96-49FC-B82B-5BB799392BA4}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1881760" y="125349"/>
                          <a:ext cx="2865119" cy="1611630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93DEBB8D-ECA1-4F89-BB41-46DAD797472D}">
                    <psuz:zmPr id="{64892CAE-9F5F-467F-851C-C157164CC5BD}" transitionDur="1000">
                      <p166:blipFill xmlns:p166="http://schemas.microsoft.com/office/powerpoint/2016/6/main">
                        <a:blip r:embed="rId3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4854321" y="125349"/>
                          <a:ext cx="2865119" cy="1611630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8599694B-A55B-4BD9-9ACA-F632C7D1925D}">
                    <psuz:zmPr id="{37848C8E-0DA1-4315-94EF-C3993237CB29}" transitionDur="1000">
                      <p166:blipFill xmlns:p166="http://schemas.microsoft.com/office/powerpoint/2016/6/main">
                        <a:blip r:embed="rId4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1881760" y="1844421"/>
                          <a:ext cx="2865119" cy="1611630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106C052C-0C44-4E41-9330-8FE4C9B1E510}">
                    <psuz:zmPr id="{3B7F634A-F2D0-455C-AC4B-20719AD8BF30}" transitionDur="1000">
                      <p166:blipFill xmlns:p166="http://schemas.microsoft.com/office/powerpoint/2016/6/main">
                        <a:blip r:embed="rId5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4854321" y="1844421"/>
                          <a:ext cx="2865119" cy="1611630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gridLayout/>
                </psuz:summaryZm>
              </a:graphicData>
            </a:graphic>
          </p:graphicFrame>
        </mc:Choice>
        <mc:Fallback>
          <p:grpSp>
            <p:nvGrpSpPr>
              <p:cNvPr id="4" name="Content Placeholder 3"/>
              <p:cNvGrpSpPr>
                <a:grpSpLocks noGrp="1" noUngrp="1" noRot="1" noChangeAspect="1" noMove="1" noResize="1"/>
              </p:cNvGrpSpPr>
              <p:nvPr/>
            </p:nvGrpSpPr>
            <p:grpSpPr>
              <a:xfrm>
                <a:off x="1371600" y="2286000"/>
                <a:ext cx="9601200" cy="3581400"/>
                <a:chOff x="1371600" y="2286000"/>
                <a:chExt cx="9601200" cy="3581400"/>
              </a:xfrm>
            </p:grpSpPr>
            <p:pic>
              <p:nvPicPr>
                <p:cNvPr id="3" name="Picture 3">
                  <a:hlinkClick r:id="rId6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3253360" y="2411349"/>
                  <a:ext cx="2865119" cy="1611630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5" name="Picture 5">
                  <a:hlinkClick r:id="rId7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6225921" y="2411349"/>
                  <a:ext cx="2865119" cy="1611630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6" name="Picture 6">
                  <a:hlinkClick r:id="rId8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3253360" y="4130421"/>
                  <a:ext cx="2865119" cy="1611630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7" name="Picture 7">
                  <a:hlinkClick r:id="rId9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6225921" y="4130421"/>
                  <a:ext cx="2865119" cy="1611630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</p:grpSp>
        </mc:Fallback>
      </mc:AlternateContent>
      <p:sp>
        <p:nvSpPr>
          <p:cNvPr id="8" name="TextBox 7">
            <a:hlinkClick r:id="rId10" action="ppaction://hlinksldjump"/>
          </p:cNvPr>
          <p:cNvSpPr txBox="1"/>
          <p:nvPr/>
        </p:nvSpPr>
        <p:spPr>
          <a:xfrm>
            <a:off x="712521" y="5938"/>
            <a:ext cx="20544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Overview</a:t>
            </a:r>
            <a:endParaRPr lang="de-DE" sz="2000" dirty="0"/>
          </a:p>
        </p:txBody>
      </p:sp>
    </p:spTree>
    <p:extLst>
      <p:ext uri="{BB962C8B-B14F-4D97-AF65-F5344CB8AC3E}">
        <p14:creationId xmlns:p14="http://schemas.microsoft.com/office/powerpoint/2010/main" val="264743741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Syntax </a:t>
            </a:r>
            <a:endParaRPr lang="de-DE" dirty="0"/>
          </a:p>
        </p:txBody>
      </p:sp>
      <p:pic>
        <p:nvPicPr>
          <p:cNvPr id="6" name="Content Placeholder 5"/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371600" y="2562137"/>
            <a:ext cx="4448175" cy="3029125"/>
          </a:xfrm>
          <a:prstGeom prst="rect">
            <a:avLst/>
          </a:prstGeom>
        </p:spPr>
      </p:pic>
      <p:pic>
        <p:nvPicPr>
          <p:cNvPr id="11" name="Content Placeholder 10"/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524625" y="3527176"/>
            <a:ext cx="4448175" cy="1099048"/>
          </a:xfrm>
          <a:prstGeom prst="rect">
            <a:avLst/>
          </a:prstGeom>
        </p:spPr>
      </p:pic>
      <p:sp>
        <p:nvSpPr>
          <p:cNvPr id="15" name="TextBox 14">
            <a:hlinkClick r:id="rId4" action="ppaction://hlinksldjump"/>
          </p:cNvPr>
          <p:cNvSpPr txBox="1"/>
          <p:nvPr/>
        </p:nvSpPr>
        <p:spPr>
          <a:xfrm>
            <a:off x="706583" y="5938"/>
            <a:ext cx="20544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Functions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4618859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Immediately invoked functions </a:t>
            </a:r>
            <a:endParaRPr lang="de-DE" dirty="0"/>
          </a:p>
        </p:txBody>
      </p:sp>
      <p:pic>
        <p:nvPicPr>
          <p:cNvPr id="3" name="Content Placeholder 2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066881" y="3252672"/>
            <a:ext cx="4210638" cy="1648055"/>
          </a:xfrm>
          <a:prstGeom prst="rect">
            <a:avLst/>
          </a:prstGeom>
        </p:spPr>
      </p:pic>
      <p:sp>
        <p:nvSpPr>
          <p:cNvPr id="15" name="TextBox 14">
            <a:hlinkClick r:id="rId3" action="ppaction://hlinksldjump"/>
          </p:cNvPr>
          <p:cNvSpPr txBox="1"/>
          <p:nvPr/>
        </p:nvSpPr>
        <p:spPr>
          <a:xfrm>
            <a:off x="706583" y="5938"/>
            <a:ext cx="20544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Functions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5796630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Typing</a:t>
            </a:r>
            <a:endParaRPr lang="de-DE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71601" y="2171700"/>
            <a:ext cx="10691604" cy="1818586"/>
          </a:xfrm>
          <a:prstGeom prst="rect">
            <a:avLst/>
          </a:prstGeom>
        </p:spPr>
      </p:pic>
      <p:sp>
        <p:nvSpPr>
          <p:cNvPr id="15" name="TextBox 14">
            <a:hlinkClick r:id="rId3" action="ppaction://hlinksldjump"/>
          </p:cNvPr>
          <p:cNvSpPr txBox="1"/>
          <p:nvPr/>
        </p:nvSpPr>
        <p:spPr>
          <a:xfrm>
            <a:off x="706583" y="5938"/>
            <a:ext cx="20544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Functions</a:t>
            </a:r>
            <a:endParaRPr lang="de-DE" dirty="0"/>
          </a:p>
        </p:txBody>
      </p:sp>
      <p:sp>
        <p:nvSpPr>
          <p:cNvPr id="5" name="TextBox 4"/>
          <p:cNvSpPr txBox="1"/>
          <p:nvPr/>
        </p:nvSpPr>
        <p:spPr>
          <a:xfrm>
            <a:off x="1916804" y="5216556"/>
            <a:ext cx="1484722" cy="369332"/>
          </a:xfrm>
          <a:prstGeom prst="rect">
            <a:avLst/>
          </a:prstGeom>
          <a:solidFill>
            <a:srgbClr val="FFFF00">
              <a:alpha val="25000"/>
            </a:srgbClr>
          </a:solidFill>
        </p:spPr>
        <p:txBody>
          <a:bodyPr wrap="square" rtlCol="0">
            <a:spAutoFit/>
          </a:bodyPr>
          <a:lstStyle/>
          <a:p>
            <a:r>
              <a:rPr lang="en-GB" dirty="0"/>
              <a:t>Variable</a:t>
            </a:r>
            <a:endParaRPr lang="de-DE" dirty="0"/>
          </a:p>
        </p:txBody>
      </p:sp>
      <p:sp>
        <p:nvSpPr>
          <p:cNvPr id="8" name="TextBox 7"/>
          <p:cNvSpPr txBox="1"/>
          <p:nvPr/>
        </p:nvSpPr>
        <p:spPr>
          <a:xfrm>
            <a:off x="1916804" y="5698894"/>
            <a:ext cx="1484722" cy="369332"/>
          </a:xfrm>
          <a:prstGeom prst="rect">
            <a:avLst/>
          </a:prstGeom>
          <a:solidFill>
            <a:srgbClr val="92D050">
              <a:alpha val="25000"/>
            </a:srgbClr>
          </a:solidFill>
        </p:spPr>
        <p:txBody>
          <a:bodyPr wrap="square" rtlCol="0">
            <a:spAutoFit/>
          </a:bodyPr>
          <a:lstStyle/>
          <a:p>
            <a:r>
              <a:rPr lang="en-GB" dirty="0"/>
              <a:t>Function</a:t>
            </a:r>
            <a:endParaRPr lang="de-DE" dirty="0"/>
          </a:p>
        </p:txBody>
      </p:sp>
      <p:sp>
        <p:nvSpPr>
          <p:cNvPr id="9" name="TextBox 8"/>
          <p:cNvSpPr txBox="1"/>
          <p:nvPr/>
        </p:nvSpPr>
        <p:spPr>
          <a:xfrm>
            <a:off x="1371600" y="2213427"/>
            <a:ext cx="9825891" cy="307777"/>
          </a:xfrm>
          <a:prstGeom prst="rect">
            <a:avLst/>
          </a:prstGeom>
          <a:solidFill>
            <a:srgbClr val="FFFF00">
              <a:alpha val="25000"/>
            </a:srgbClr>
          </a:solidFill>
        </p:spPr>
        <p:txBody>
          <a:bodyPr wrap="square" rtlCol="0">
            <a:spAutoFit/>
          </a:bodyPr>
          <a:lstStyle/>
          <a:p>
            <a:endParaRPr lang="de-DE" sz="1400" dirty="0"/>
          </a:p>
        </p:txBody>
      </p:sp>
      <p:sp>
        <p:nvSpPr>
          <p:cNvPr id="11" name="TextBox 10"/>
          <p:cNvSpPr txBox="1"/>
          <p:nvPr/>
        </p:nvSpPr>
        <p:spPr>
          <a:xfrm>
            <a:off x="1371600" y="3066245"/>
            <a:ext cx="8249023" cy="307777"/>
          </a:xfrm>
          <a:prstGeom prst="rect">
            <a:avLst/>
          </a:prstGeom>
          <a:solidFill>
            <a:srgbClr val="FFFF00">
              <a:alpha val="25000"/>
            </a:srgbClr>
          </a:solidFill>
        </p:spPr>
        <p:txBody>
          <a:bodyPr wrap="square" rtlCol="0">
            <a:spAutoFit/>
          </a:bodyPr>
          <a:lstStyle/>
          <a:p>
            <a:endParaRPr lang="de-DE" sz="1400" dirty="0"/>
          </a:p>
        </p:txBody>
      </p:sp>
      <p:sp>
        <p:nvSpPr>
          <p:cNvPr id="12" name="TextBox 11"/>
          <p:cNvSpPr txBox="1"/>
          <p:nvPr/>
        </p:nvSpPr>
        <p:spPr>
          <a:xfrm>
            <a:off x="1371601" y="3671302"/>
            <a:ext cx="1697728" cy="307777"/>
          </a:xfrm>
          <a:prstGeom prst="rect">
            <a:avLst/>
          </a:prstGeom>
          <a:solidFill>
            <a:srgbClr val="FFFF00">
              <a:alpha val="25000"/>
            </a:srgbClr>
          </a:solidFill>
        </p:spPr>
        <p:txBody>
          <a:bodyPr wrap="square" rtlCol="0">
            <a:spAutoFit/>
          </a:bodyPr>
          <a:lstStyle/>
          <a:p>
            <a:endParaRPr lang="de-DE" sz="1400" dirty="0"/>
          </a:p>
        </p:txBody>
      </p:sp>
      <p:sp>
        <p:nvSpPr>
          <p:cNvPr id="13" name="TextBox 12"/>
          <p:cNvSpPr txBox="1"/>
          <p:nvPr/>
        </p:nvSpPr>
        <p:spPr>
          <a:xfrm>
            <a:off x="1908005" y="2521204"/>
            <a:ext cx="5548537" cy="307777"/>
          </a:xfrm>
          <a:prstGeom prst="rect">
            <a:avLst/>
          </a:prstGeom>
          <a:solidFill>
            <a:srgbClr val="92D050">
              <a:alpha val="25000"/>
            </a:srgbClr>
          </a:solidFill>
        </p:spPr>
        <p:txBody>
          <a:bodyPr wrap="square" rtlCol="0">
            <a:spAutoFit/>
          </a:bodyPr>
          <a:lstStyle/>
          <a:p>
            <a:endParaRPr lang="de-DE" sz="1400" dirty="0"/>
          </a:p>
        </p:txBody>
      </p:sp>
      <p:sp>
        <p:nvSpPr>
          <p:cNvPr id="14" name="TextBox 13"/>
          <p:cNvSpPr txBox="1"/>
          <p:nvPr/>
        </p:nvSpPr>
        <p:spPr>
          <a:xfrm>
            <a:off x="3401526" y="3665348"/>
            <a:ext cx="5497102" cy="307777"/>
          </a:xfrm>
          <a:prstGeom prst="rect">
            <a:avLst/>
          </a:prstGeom>
          <a:solidFill>
            <a:srgbClr val="92D050">
              <a:alpha val="25000"/>
            </a:srgbClr>
          </a:solidFill>
        </p:spPr>
        <p:txBody>
          <a:bodyPr wrap="square" rtlCol="0">
            <a:spAutoFit/>
          </a:bodyPr>
          <a:lstStyle/>
          <a:p>
            <a:endParaRPr lang="de-DE" sz="1400" dirty="0"/>
          </a:p>
        </p:txBody>
      </p:sp>
      <p:sp>
        <p:nvSpPr>
          <p:cNvPr id="16" name="TextBox 15"/>
          <p:cNvSpPr txBox="1"/>
          <p:nvPr/>
        </p:nvSpPr>
        <p:spPr>
          <a:xfrm>
            <a:off x="9974953" y="3066244"/>
            <a:ext cx="2088252" cy="307777"/>
          </a:xfrm>
          <a:prstGeom prst="rect">
            <a:avLst/>
          </a:prstGeom>
          <a:solidFill>
            <a:srgbClr val="92D050">
              <a:alpha val="25000"/>
            </a:srgbClr>
          </a:solidFill>
        </p:spPr>
        <p:txBody>
          <a:bodyPr wrap="square" rtlCol="0">
            <a:spAutoFit/>
          </a:bodyPr>
          <a:lstStyle/>
          <a:p>
            <a:endParaRPr lang="de-DE" sz="1400" dirty="0"/>
          </a:p>
        </p:txBody>
      </p:sp>
    </p:spTree>
    <p:extLst>
      <p:ext uri="{BB962C8B-B14F-4D97-AF65-F5344CB8AC3E}">
        <p14:creationId xmlns:p14="http://schemas.microsoft.com/office/powerpoint/2010/main" val="20020117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8" grpId="0" animBg="1"/>
      <p:bldP spid="9" grpId="0" animBg="1"/>
      <p:bldP spid="11" grpId="0" animBg="1"/>
      <p:bldP spid="12" grpId="0" animBg="1"/>
      <p:bldP spid="13" grpId="0" animBg="1"/>
      <p:bldP spid="14" grpId="0" animBg="1"/>
      <p:bldP spid="16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Higher Order Function</a:t>
            </a:r>
            <a:endParaRPr lang="de-DE" dirty="0"/>
          </a:p>
        </p:txBody>
      </p:sp>
      <p:sp>
        <p:nvSpPr>
          <p:cNvPr id="15" name="TextBox 14">
            <a:hlinkClick r:id="rId2" action="ppaction://hlinksldjump"/>
          </p:cNvPr>
          <p:cNvSpPr txBox="1"/>
          <p:nvPr/>
        </p:nvSpPr>
        <p:spPr>
          <a:xfrm>
            <a:off x="706583" y="5938"/>
            <a:ext cx="20544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Functions</a:t>
            </a:r>
            <a:endParaRPr lang="de-DE" dirty="0"/>
          </a:p>
        </p:txBody>
      </p:sp>
      <p:pic>
        <p:nvPicPr>
          <p:cNvPr id="6" name="Content Placeholder 5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371600" y="3186166"/>
            <a:ext cx="9601200" cy="1781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99798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Rest Parameters</a:t>
            </a:r>
            <a:endParaRPr lang="de-DE" dirty="0"/>
          </a:p>
        </p:txBody>
      </p:sp>
      <p:pic>
        <p:nvPicPr>
          <p:cNvPr id="14" name="Content Placeholder 1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71600" y="2197100"/>
            <a:ext cx="9601200" cy="1296008"/>
          </a:xfrm>
          <a:prstGeom prst="rect">
            <a:avLst/>
          </a:prstGeom>
        </p:spPr>
      </p:pic>
      <p:sp>
        <p:nvSpPr>
          <p:cNvPr id="8" name="TextBox 7">
            <a:hlinkClick r:id="rId3" action="ppaction://hlinksldjump"/>
          </p:cNvPr>
          <p:cNvSpPr txBox="1"/>
          <p:nvPr/>
        </p:nvSpPr>
        <p:spPr>
          <a:xfrm>
            <a:off x="706583" y="5938"/>
            <a:ext cx="20544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Functions</a:t>
            </a:r>
            <a:endParaRPr lang="de-DE" dirty="0"/>
          </a:p>
        </p:txBody>
      </p:sp>
      <p:sp>
        <p:nvSpPr>
          <p:cNvPr id="9" name="TextBox 8"/>
          <p:cNvSpPr txBox="1"/>
          <p:nvPr/>
        </p:nvSpPr>
        <p:spPr>
          <a:xfrm>
            <a:off x="7831455" y="2171700"/>
            <a:ext cx="2667000" cy="261610"/>
          </a:xfrm>
          <a:prstGeom prst="rect">
            <a:avLst/>
          </a:prstGeom>
          <a:solidFill>
            <a:schemeClr val="tx2">
              <a:lumMod val="50000"/>
              <a:lumOff val="50000"/>
              <a:alpha val="25000"/>
            </a:schemeClr>
          </a:solidFill>
        </p:spPr>
        <p:txBody>
          <a:bodyPr wrap="square" rtlCol="0">
            <a:spAutoFit/>
          </a:bodyPr>
          <a:lstStyle/>
          <a:p>
            <a:endParaRPr lang="de-DE" sz="1100" dirty="0"/>
          </a:p>
        </p:txBody>
      </p:sp>
      <p:sp>
        <p:nvSpPr>
          <p:cNvPr id="11" name="TextBox 10"/>
          <p:cNvSpPr txBox="1"/>
          <p:nvPr/>
        </p:nvSpPr>
        <p:spPr>
          <a:xfrm>
            <a:off x="4953000" y="2954543"/>
            <a:ext cx="2240280" cy="261610"/>
          </a:xfrm>
          <a:prstGeom prst="rect">
            <a:avLst/>
          </a:prstGeom>
          <a:solidFill>
            <a:schemeClr val="tx2">
              <a:lumMod val="50000"/>
              <a:lumOff val="50000"/>
              <a:alpha val="25000"/>
            </a:schemeClr>
          </a:solidFill>
        </p:spPr>
        <p:txBody>
          <a:bodyPr wrap="square" rtlCol="0">
            <a:spAutoFit/>
          </a:bodyPr>
          <a:lstStyle/>
          <a:p>
            <a:endParaRPr lang="de-DE" sz="1100" dirty="0"/>
          </a:p>
        </p:txBody>
      </p:sp>
    </p:spTree>
    <p:extLst>
      <p:ext uri="{BB962C8B-B14F-4D97-AF65-F5344CB8AC3E}">
        <p14:creationId xmlns:p14="http://schemas.microsoft.com/office/powerpoint/2010/main" val="21822884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1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Optional Parameters</a:t>
            </a:r>
            <a:endParaRPr lang="de-DE" dirty="0"/>
          </a:p>
        </p:txBody>
      </p:sp>
      <p:pic>
        <p:nvPicPr>
          <p:cNvPr id="6" name="Content Placeholder 5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71600" y="2171700"/>
            <a:ext cx="10325194" cy="2422538"/>
          </a:xfrm>
          <a:prstGeom prst="rect">
            <a:avLst/>
          </a:prstGeom>
        </p:spPr>
      </p:pic>
      <p:sp>
        <p:nvSpPr>
          <p:cNvPr id="8" name="TextBox 7">
            <a:hlinkClick r:id="rId3" action="ppaction://hlinksldjump"/>
          </p:cNvPr>
          <p:cNvSpPr txBox="1"/>
          <p:nvPr/>
        </p:nvSpPr>
        <p:spPr>
          <a:xfrm>
            <a:off x="706583" y="5938"/>
            <a:ext cx="20544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Functions</a:t>
            </a:r>
            <a:endParaRPr lang="de-DE" dirty="0"/>
          </a:p>
        </p:txBody>
      </p:sp>
      <p:sp>
        <p:nvSpPr>
          <p:cNvPr id="10" name="TextBox 9"/>
          <p:cNvSpPr txBox="1"/>
          <p:nvPr/>
        </p:nvSpPr>
        <p:spPr>
          <a:xfrm>
            <a:off x="3514725" y="2171700"/>
            <a:ext cx="1673225" cy="261610"/>
          </a:xfrm>
          <a:prstGeom prst="rect">
            <a:avLst/>
          </a:prstGeom>
          <a:solidFill>
            <a:schemeClr val="tx2">
              <a:lumMod val="50000"/>
              <a:lumOff val="50000"/>
              <a:alpha val="25000"/>
            </a:schemeClr>
          </a:solidFill>
        </p:spPr>
        <p:txBody>
          <a:bodyPr wrap="square" rtlCol="0">
            <a:spAutoFit/>
          </a:bodyPr>
          <a:lstStyle/>
          <a:p>
            <a:endParaRPr lang="de-DE" sz="1100" dirty="0"/>
          </a:p>
        </p:txBody>
      </p:sp>
      <p:sp>
        <p:nvSpPr>
          <p:cNvPr id="11" name="TextBox 10"/>
          <p:cNvSpPr txBox="1"/>
          <p:nvPr/>
        </p:nvSpPr>
        <p:spPr>
          <a:xfrm>
            <a:off x="5373083" y="3759871"/>
            <a:ext cx="2640618" cy="261610"/>
          </a:xfrm>
          <a:prstGeom prst="rect">
            <a:avLst/>
          </a:prstGeom>
          <a:solidFill>
            <a:schemeClr val="tx2">
              <a:lumMod val="50000"/>
              <a:lumOff val="50000"/>
              <a:alpha val="25000"/>
            </a:schemeClr>
          </a:solidFill>
        </p:spPr>
        <p:txBody>
          <a:bodyPr wrap="square" rtlCol="0">
            <a:spAutoFit/>
          </a:bodyPr>
          <a:lstStyle/>
          <a:p>
            <a:endParaRPr lang="de-DE" sz="1100" dirty="0"/>
          </a:p>
        </p:txBody>
      </p:sp>
    </p:spTree>
    <p:extLst>
      <p:ext uri="{BB962C8B-B14F-4D97-AF65-F5344CB8AC3E}">
        <p14:creationId xmlns:p14="http://schemas.microsoft.com/office/powerpoint/2010/main" val="23539078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1457324" y="342900"/>
            <a:ext cx="10058401" cy="1514476"/>
          </a:xfrm>
        </p:spPr>
        <p:txBody>
          <a:bodyPr>
            <a:normAutofit/>
          </a:bodyPr>
          <a:lstStyle/>
          <a:p>
            <a:pPr algn="l"/>
            <a:r>
              <a:rPr lang="en-GB" dirty="0"/>
              <a:t>Exercise: Fibonacci I</a:t>
            </a:r>
            <a:endParaRPr lang="de-DE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>
          <a:xfrm>
            <a:off x="1457325" y="1981200"/>
            <a:ext cx="8920671" cy="3378452"/>
          </a:xfrm>
        </p:spPr>
        <p:txBody>
          <a:bodyPr>
            <a:normAutofit/>
          </a:bodyPr>
          <a:lstStyle/>
          <a:p>
            <a:pPr marL="342900" indent="-342900" algn="l">
              <a:buFont typeface="Wingdings" panose="05000000000000000000" pitchFamily="2" charset="2"/>
              <a:buChar char="§"/>
            </a:pPr>
            <a:r>
              <a:rPr lang="en-GB" dirty="0">
                <a:solidFill>
                  <a:schemeClr val="bg1"/>
                </a:solidFill>
              </a:rPr>
              <a:t>Write a recursive Fibonacci function</a:t>
            </a:r>
          </a:p>
          <a:p>
            <a:pPr marL="342900" indent="-342900" algn="l">
              <a:buFont typeface="Wingdings" panose="05000000000000000000" pitchFamily="2" charset="2"/>
              <a:buChar char="§"/>
            </a:pPr>
            <a:r>
              <a:rPr lang="en-GB" dirty="0">
                <a:solidFill>
                  <a:schemeClr val="bg1"/>
                </a:solidFill>
              </a:rPr>
              <a:t>Typed!</a:t>
            </a:r>
          </a:p>
          <a:p>
            <a:pPr marL="342900" indent="-342900" algn="l">
              <a:buFont typeface="Wingdings" panose="05000000000000000000" pitchFamily="2" charset="2"/>
              <a:buChar char="§"/>
            </a:pPr>
            <a:r>
              <a:rPr lang="en-GB" dirty="0">
                <a:solidFill>
                  <a:schemeClr val="bg1"/>
                </a:solidFill>
              </a:rPr>
              <a:t>Extra challenge: Make it tail recursive</a:t>
            </a:r>
            <a:endParaRPr lang="de-DE" dirty="0">
              <a:solidFill>
                <a:schemeClr val="bg1"/>
              </a:solidFill>
            </a:endParaRPr>
          </a:p>
          <a:p>
            <a:pPr marL="342900" indent="-342900" algn="l">
              <a:buFont typeface="Wingdings" panose="05000000000000000000" pitchFamily="2" charset="2"/>
              <a:buChar char="§"/>
            </a:pP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5442895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Exercise: Fibonacci I</a:t>
            </a:r>
            <a:endParaRPr lang="de-DE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2171700"/>
            <a:ext cx="10801350" cy="3245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71600" y="3288268"/>
            <a:ext cx="1990724" cy="369332"/>
          </a:xfrm>
          <a:prstGeom prst="rect">
            <a:avLst/>
          </a:prstGeom>
          <a:solidFill>
            <a:srgbClr val="92D050">
              <a:alpha val="25000"/>
            </a:srgbClr>
          </a:solidFill>
        </p:spPr>
        <p:txBody>
          <a:bodyPr wrap="square" rtlCol="0">
            <a:spAutoFit/>
          </a:bodyPr>
          <a:lstStyle/>
          <a:p>
            <a:r>
              <a:rPr lang="en-GB" dirty="0"/>
              <a:t>Function Body</a:t>
            </a:r>
            <a:endParaRPr lang="de-DE" dirty="0"/>
          </a:p>
        </p:txBody>
      </p:sp>
      <p:sp>
        <p:nvSpPr>
          <p:cNvPr id="6" name="TextBox 5"/>
          <p:cNvSpPr txBox="1"/>
          <p:nvPr/>
        </p:nvSpPr>
        <p:spPr>
          <a:xfrm>
            <a:off x="7162800" y="2126936"/>
            <a:ext cx="5043487" cy="369332"/>
          </a:xfrm>
          <a:prstGeom prst="rect">
            <a:avLst/>
          </a:prstGeom>
          <a:solidFill>
            <a:srgbClr val="92D050">
              <a:alpha val="25000"/>
            </a:srgbClr>
          </a:solidFill>
        </p:spPr>
        <p:txBody>
          <a:bodyPr wrap="square" rtlCol="0">
            <a:spAutoFit/>
          </a:bodyPr>
          <a:lstStyle/>
          <a:p>
            <a:endParaRPr lang="de-DE" dirty="0"/>
          </a:p>
        </p:txBody>
      </p:sp>
      <p:sp>
        <p:nvSpPr>
          <p:cNvPr id="7" name="TextBox 6"/>
          <p:cNvSpPr txBox="1"/>
          <p:nvPr/>
        </p:nvSpPr>
        <p:spPr>
          <a:xfrm>
            <a:off x="1371600" y="2805930"/>
            <a:ext cx="1484722" cy="369332"/>
          </a:xfrm>
          <a:prstGeom prst="rect">
            <a:avLst/>
          </a:prstGeom>
          <a:solidFill>
            <a:srgbClr val="FFFF00">
              <a:alpha val="25000"/>
            </a:srgbClr>
          </a:solidFill>
        </p:spPr>
        <p:txBody>
          <a:bodyPr wrap="square" rtlCol="0">
            <a:spAutoFit/>
          </a:bodyPr>
          <a:lstStyle/>
          <a:p>
            <a:r>
              <a:rPr lang="en-GB" dirty="0"/>
              <a:t>Parameters</a:t>
            </a:r>
            <a:endParaRPr lang="de-DE" dirty="0"/>
          </a:p>
        </p:txBody>
      </p:sp>
      <p:sp>
        <p:nvSpPr>
          <p:cNvPr id="8" name="TextBox 7"/>
          <p:cNvSpPr txBox="1"/>
          <p:nvPr/>
        </p:nvSpPr>
        <p:spPr>
          <a:xfrm>
            <a:off x="3589747" y="2126936"/>
            <a:ext cx="3125377" cy="369332"/>
          </a:xfrm>
          <a:prstGeom prst="rect">
            <a:avLst/>
          </a:prstGeom>
          <a:solidFill>
            <a:srgbClr val="FFFF00">
              <a:alpha val="25000"/>
            </a:srgbClr>
          </a:solidFill>
        </p:spPr>
        <p:txBody>
          <a:bodyPr wrap="square" rtlCol="0">
            <a:spAutoFit/>
          </a:bodyPr>
          <a:lstStyle/>
          <a:p>
            <a:endParaRPr lang="de-DE" dirty="0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4449600"/>
            <a:ext cx="4990244" cy="3022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2781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Lazy Generators (ES6 only!)</a:t>
            </a:r>
            <a:endParaRPr lang="de-DE" dirty="0"/>
          </a:p>
        </p:txBody>
      </p:sp>
      <p:pic>
        <p:nvPicPr>
          <p:cNvPr id="6" name="Content Placeholder 5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71600" y="2171700"/>
            <a:ext cx="8497486" cy="35247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535372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1457324" y="342900"/>
            <a:ext cx="9515476" cy="1514476"/>
          </a:xfrm>
        </p:spPr>
        <p:txBody>
          <a:bodyPr>
            <a:normAutofit/>
          </a:bodyPr>
          <a:lstStyle/>
          <a:p>
            <a:pPr algn="l"/>
            <a:r>
              <a:rPr lang="en-GB" dirty="0"/>
              <a:t>Exercise: Fibonacci II</a:t>
            </a:r>
            <a:endParaRPr lang="de-DE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>
          <a:xfrm>
            <a:off x="1457325" y="1981200"/>
            <a:ext cx="8920671" cy="3378452"/>
          </a:xfrm>
        </p:spPr>
        <p:txBody>
          <a:bodyPr>
            <a:normAutofit/>
          </a:bodyPr>
          <a:lstStyle/>
          <a:p>
            <a:pPr marL="342900" indent="-342900" algn="l">
              <a:buFont typeface="Wingdings" panose="05000000000000000000" pitchFamily="2" charset="2"/>
              <a:buChar char="§"/>
            </a:pPr>
            <a:r>
              <a:rPr lang="en-GB" dirty="0">
                <a:solidFill>
                  <a:schemeClr val="bg1"/>
                </a:solidFill>
              </a:rPr>
              <a:t>Write a Fibonacci generator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7656389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Exercise: Fibonacci II</a:t>
            </a:r>
            <a:endParaRPr lang="de-DE" dirty="0"/>
          </a:p>
        </p:txBody>
      </p:sp>
      <p:pic>
        <p:nvPicPr>
          <p:cNvPr id="15" name="Content Placeholder 14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71600" y="2171700"/>
            <a:ext cx="9601200" cy="30009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07736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Arrays</a:t>
            </a:r>
            <a:endParaRPr lang="de-DE" dirty="0"/>
          </a:p>
        </p:txBody>
      </p:sp>
      <mc:AlternateContent xmlns:mc="http://schemas.openxmlformats.org/markup-compatibility/2006">
        <mc:Choice xmlns:psuz="http://schemas.microsoft.com/office/powerpoint/2016/summaryzoom" Requires="psuz">
          <p:graphicFrame>
            <p:nvGraphicFramePr>
              <p:cNvPr id="4" name="Summary Zoom 3"/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543602497"/>
                  </p:ext>
                </p:extLst>
              </p:nvPr>
            </p:nvGraphicFramePr>
            <p:xfrm>
              <a:off x="1371600" y="2286000"/>
              <a:ext cx="9601200" cy="3581400"/>
            </p:xfrm>
            <a:graphic>
              <a:graphicData uri="http://schemas.microsoft.com/office/powerpoint/2016/summaryzoom">
                <psuz:summaryZm>
                  <psuz:gridLayout/>
                </psuz:summaryZm>
              </a:graphicData>
            </a:graphic>
          </p:graphicFrame>
        </mc:Choice>
        <mc:Fallback>
          <p:grpSp>
            <p:nvGrpSpPr>
              <p:cNvPr id="4" name="Summary Zoom 3"/>
              <p:cNvGrpSpPr>
                <a:grpSpLocks noGrp="1" noUngrp="1" noRot="1" noChangeAspect="1" noMove="1" noResize="1"/>
              </p:cNvGrpSpPr>
              <p:nvPr/>
            </p:nvGrpSpPr>
            <p:grpSpPr>
              <a:xfrm>
                <a:off x="1371600" y="2286000"/>
                <a:ext cx="9601200" cy="3581400"/>
                <a:chOff x="1371600" y="2286000"/>
                <a:chExt cx="9601200" cy="3581400"/>
              </a:xfrm>
            </p:grpSpPr>
          </p:grpSp>
        </mc:Fallback>
      </mc:AlternateContent>
      <mc:AlternateContent xmlns:mc="http://schemas.openxmlformats.org/markup-compatibility/2006">
        <mc:Choice xmlns:psuz="http://schemas.microsoft.com/office/powerpoint/2016/summaryzoom" Requires="psuz">
          <p:graphicFrame>
            <p:nvGraphicFramePr>
              <p:cNvPr id="6" name="Summary Zoom 5"/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544437671"/>
                  </p:ext>
                </p:extLst>
              </p:nvPr>
            </p:nvGraphicFramePr>
            <p:xfrm>
              <a:off x="1524000" y="2438400"/>
              <a:ext cx="9601200" cy="3581400"/>
            </p:xfrm>
            <a:graphic>
              <a:graphicData uri="http://schemas.microsoft.com/office/powerpoint/2016/summaryzoom">
                <psuz:summaryZm>
                  <psuz:summaryZmObj sectionId="{53560B42-0755-411A-BE43-64585385B195}">
                    <psuz:zmPr id="{AB19A1AA-591D-4187-99D4-102F97917EF3}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1881760" y="125349"/>
                          <a:ext cx="2865119" cy="1611630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D9040914-A825-45D3-A1B0-0F1F7B6DAA89}">
                    <psuz:zmPr id="{921CADEE-4E7C-4885-8ABA-8AE4388CBB01}" transitionDur="1000">
                      <p166:blipFill xmlns:p166="http://schemas.microsoft.com/office/powerpoint/2016/6/main">
                        <a:blip r:embed="rId3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4854321" y="125349"/>
                          <a:ext cx="2865119" cy="1611630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37FABDBF-9C64-496D-BE49-D1455AB6FE36}">
                    <psuz:zmPr id="{0617311C-47D8-4946-91F0-0C916FB7A06E}" transitionDur="1000">
                      <p166:blipFill xmlns:p166="http://schemas.microsoft.com/office/powerpoint/2016/6/main">
                        <a:blip r:embed="rId4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1881760" y="1844421"/>
                          <a:ext cx="2865119" cy="1611630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5FA8F333-0FFA-49E3-B70B-F988FB93C4CF}">
                    <psuz:zmPr id="{ED23CA34-9D93-4B5B-A1FD-5B8846D8798B}" transitionDur="1000">
                      <p166:blipFill xmlns:p166="http://schemas.microsoft.com/office/powerpoint/2016/6/main">
                        <a:blip r:embed="rId5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4854321" y="1844421"/>
                          <a:ext cx="2865119" cy="1611630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gridLayout/>
                </psuz:summaryZm>
              </a:graphicData>
            </a:graphic>
          </p:graphicFrame>
        </mc:Choice>
        <mc:Fallback>
          <p:grpSp>
            <p:nvGrpSpPr>
              <p:cNvPr id="6" name="Summary Zoom 5"/>
              <p:cNvGrpSpPr>
                <a:grpSpLocks noGrp="1" noUngrp="1" noRot="1" noChangeAspect="1" noMove="1" noResize="1"/>
              </p:cNvGrpSpPr>
              <p:nvPr/>
            </p:nvGrpSpPr>
            <p:grpSpPr>
              <a:xfrm>
                <a:off x="1524000" y="2438400"/>
                <a:ext cx="9601200" cy="3581400"/>
                <a:chOff x="1524000" y="2438400"/>
                <a:chExt cx="9601200" cy="3581400"/>
              </a:xfrm>
            </p:grpSpPr>
            <p:pic>
              <p:nvPicPr>
                <p:cNvPr id="3" name="Picture 3">
                  <a:hlinkClick r:id="rId6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3405760" y="2563749"/>
                  <a:ext cx="2865119" cy="1611630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5" name="Picture 5">
                  <a:hlinkClick r:id="rId7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6378321" y="2563749"/>
                  <a:ext cx="2865119" cy="1611630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7" name="Picture 7">
                  <a:hlinkClick r:id="rId8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3405760" y="4282821"/>
                  <a:ext cx="2865119" cy="1611630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8" name="Picture 8">
                  <a:hlinkClick r:id="rId9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6378321" y="4282821"/>
                  <a:ext cx="2865119" cy="1611630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</p:grpSp>
        </mc:Fallback>
      </mc:AlternateContent>
      <p:sp>
        <p:nvSpPr>
          <p:cNvPr id="9" name="TextBox 8">
            <a:hlinkClick r:id="rId10" action="ppaction://hlinksldjump"/>
          </p:cNvPr>
          <p:cNvSpPr txBox="1"/>
          <p:nvPr/>
        </p:nvSpPr>
        <p:spPr>
          <a:xfrm>
            <a:off x="712521" y="5938"/>
            <a:ext cx="20544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Overview</a:t>
            </a:r>
            <a:endParaRPr lang="de-DE" sz="2000" dirty="0"/>
          </a:p>
        </p:txBody>
      </p:sp>
    </p:spTree>
    <p:extLst>
      <p:ext uri="{BB962C8B-B14F-4D97-AF65-F5344CB8AC3E}">
        <p14:creationId xmlns:p14="http://schemas.microsoft.com/office/powerpoint/2010/main" val="407231370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Operations – Part I</a:t>
            </a:r>
            <a:endParaRPr lang="de-DE" dirty="0"/>
          </a:p>
        </p:txBody>
      </p:sp>
      <p:pic>
        <p:nvPicPr>
          <p:cNvPr id="16" name="Content Placeholder 15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71600" y="2171700"/>
            <a:ext cx="10319882" cy="3250496"/>
          </a:xfrm>
          <a:prstGeom prst="rect">
            <a:avLst/>
          </a:prstGeom>
        </p:spPr>
      </p:pic>
      <p:sp>
        <p:nvSpPr>
          <p:cNvPr id="15" name="TextBox 14">
            <a:hlinkClick r:id="rId3" action="ppaction://hlinksldjump"/>
          </p:cNvPr>
          <p:cNvSpPr txBox="1"/>
          <p:nvPr/>
        </p:nvSpPr>
        <p:spPr>
          <a:xfrm>
            <a:off x="706583" y="5938"/>
            <a:ext cx="20544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Arrays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1322110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Operations – Part II</a:t>
            </a:r>
            <a:endParaRPr lang="de-DE" dirty="0"/>
          </a:p>
        </p:txBody>
      </p:sp>
      <p:pic>
        <p:nvPicPr>
          <p:cNvPr id="3" name="Content Placeholder 2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71600" y="2171700"/>
            <a:ext cx="7739506" cy="2857502"/>
          </a:xfrm>
          <a:prstGeom prst="rect">
            <a:avLst/>
          </a:prstGeom>
        </p:spPr>
      </p:pic>
      <p:sp>
        <p:nvSpPr>
          <p:cNvPr id="15" name="TextBox 14">
            <a:hlinkClick r:id="rId3" action="ppaction://hlinksldjump"/>
          </p:cNvPr>
          <p:cNvSpPr txBox="1"/>
          <p:nvPr/>
        </p:nvSpPr>
        <p:spPr>
          <a:xfrm>
            <a:off x="706583" y="5938"/>
            <a:ext cx="20544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Arrays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94777573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Operations – Part III</a:t>
            </a:r>
            <a:endParaRPr lang="de-DE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>
          <a:xfrm>
            <a:off x="1371600" y="1905000"/>
            <a:ext cx="4443984" cy="616839"/>
          </a:xfrm>
        </p:spPr>
        <p:txBody>
          <a:bodyPr/>
          <a:lstStyle/>
          <a:p>
            <a:r>
              <a:rPr lang="en-GB" dirty="0"/>
              <a:t>Spread</a:t>
            </a:r>
            <a:endParaRPr lang="de-DE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1371599" y="2521839"/>
            <a:ext cx="7136095" cy="1116747"/>
          </a:xfrm>
          <a:prstGeom prst="rect">
            <a:avLst/>
          </a:prstGeom>
        </p:spPr>
      </p:pic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>
          <a:xfrm>
            <a:off x="1371600" y="4131526"/>
            <a:ext cx="4443984" cy="823912"/>
          </a:xfrm>
        </p:spPr>
        <p:txBody>
          <a:bodyPr/>
          <a:lstStyle/>
          <a:p>
            <a:r>
              <a:rPr lang="en-GB" dirty="0"/>
              <a:t>Deconstructing</a:t>
            </a:r>
            <a:endParaRPr lang="de-DE" dirty="0"/>
          </a:p>
        </p:txBody>
      </p:sp>
      <p:pic>
        <p:nvPicPr>
          <p:cNvPr id="8" name="Content Placeholder 7"/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1371599" y="4955438"/>
            <a:ext cx="5625621" cy="779406"/>
          </a:xfrm>
          <a:prstGeom prst="rect">
            <a:avLst/>
          </a:prstGeom>
        </p:spPr>
      </p:pic>
      <p:sp>
        <p:nvSpPr>
          <p:cNvPr id="15" name="TextBox 14">
            <a:hlinkClick r:id="rId4" action="ppaction://hlinksldjump"/>
          </p:cNvPr>
          <p:cNvSpPr txBox="1"/>
          <p:nvPr/>
        </p:nvSpPr>
        <p:spPr>
          <a:xfrm>
            <a:off x="706583" y="5938"/>
            <a:ext cx="20544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Arrays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6291393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Filter</a:t>
            </a:r>
            <a:endParaRPr lang="de-DE" dirty="0"/>
          </a:p>
        </p:txBody>
      </p:sp>
      <p:pic>
        <p:nvPicPr>
          <p:cNvPr id="12" name="Content Placeholder 11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71600" y="2171700"/>
            <a:ext cx="9601200" cy="2648073"/>
          </a:xfrm>
          <a:prstGeom prst="rect">
            <a:avLst/>
          </a:prstGeom>
        </p:spPr>
      </p:pic>
      <p:sp>
        <p:nvSpPr>
          <p:cNvPr id="15" name="TextBox 14">
            <a:hlinkClick r:id="rId3" action="ppaction://hlinksldjump"/>
          </p:cNvPr>
          <p:cNvSpPr txBox="1"/>
          <p:nvPr/>
        </p:nvSpPr>
        <p:spPr>
          <a:xfrm>
            <a:off x="706583" y="5938"/>
            <a:ext cx="20544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Arrays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8722119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Map</a:t>
            </a:r>
            <a:endParaRPr lang="de-DE" dirty="0"/>
          </a:p>
        </p:txBody>
      </p:sp>
      <p:pic>
        <p:nvPicPr>
          <p:cNvPr id="3" name="Content Placeholder 2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71600" y="2171699"/>
            <a:ext cx="8353425" cy="4305511"/>
          </a:xfrm>
          <a:prstGeom prst="rect">
            <a:avLst/>
          </a:prstGeom>
        </p:spPr>
      </p:pic>
      <p:sp>
        <p:nvSpPr>
          <p:cNvPr id="15" name="TextBox 14">
            <a:hlinkClick r:id="rId3" action="ppaction://hlinksldjump"/>
          </p:cNvPr>
          <p:cNvSpPr txBox="1"/>
          <p:nvPr/>
        </p:nvSpPr>
        <p:spPr>
          <a:xfrm>
            <a:off x="706583" y="5938"/>
            <a:ext cx="20544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Arrays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7714519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Reduce</a:t>
            </a:r>
            <a:endParaRPr lang="de-DE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71600" y="3283877"/>
            <a:ext cx="9601200" cy="2105763"/>
          </a:xfrm>
          <a:prstGeom prst="rect">
            <a:avLst/>
          </a:prstGeom>
        </p:spPr>
      </p:pic>
      <p:sp>
        <p:nvSpPr>
          <p:cNvPr id="15" name="TextBox 14">
            <a:hlinkClick r:id="rId3" action="ppaction://hlinksldjump"/>
          </p:cNvPr>
          <p:cNvSpPr txBox="1"/>
          <p:nvPr/>
        </p:nvSpPr>
        <p:spPr>
          <a:xfrm>
            <a:off x="706583" y="5938"/>
            <a:ext cx="20544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Arrays</a:t>
            </a:r>
            <a:endParaRPr lang="de-DE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71600" y="2171700"/>
            <a:ext cx="10509847" cy="83816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371600" y="4181561"/>
            <a:ext cx="10763250" cy="1704975"/>
          </a:xfrm>
          <a:prstGeom prst="rect">
            <a:avLst/>
          </a:prstGeom>
          <a:solidFill>
            <a:srgbClr val="EFEDE3"/>
          </a:solidFill>
        </p:spPr>
        <p:txBody>
          <a:bodyPr wrap="square" rtlCol="0">
            <a:spAutoFit/>
          </a:bodyPr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6558691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800100" y="342900"/>
            <a:ext cx="10715625" cy="1514476"/>
          </a:xfrm>
        </p:spPr>
        <p:txBody>
          <a:bodyPr>
            <a:normAutofit/>
          </a:bodyPr>
          <a:lstStyle/>
          <a:p>
            <a:pPr algn="l"/>
            <a:r>
              <a:rPr lang="en-GB" dirty="0"/>
              <a:t>Exercises</a:t>
            </a:r>
            <a:endParaRPr lang="de-DE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>
          <a:xfrm>
            <a:off x="800100" y="1981200"/>
            <a:ext cx="8920671" cy="3378452"/>
          </a:xfrm>
        </p:spPr>
        <p:txBody>
          <a:bodyPr>
            <a:normAutofit/>
          </a:bodyPr>
          <a:lstStyle/>
          <a:p>
            <a:pPr marL="342900" indent="-342900" algn="l">
              <a:buFont typeface="Wingdings" panose="05000000000000000000" pitchFamily="2" charset="2"/>
              <a:buChar char="§"/>
            </a:pPr>
            <a:r>
              <a:rPr lang="en-GB" dirty="0">
                <a:solidFill>
                  <a:schemeClr val="bg1"/>
                </a:solidFill>
              </a:rPr>
              <a:t>MapReduce</a:t>
            </a:r>
          </a:p>
          <a:p>
            <a:pPr marL="342900" indent="-342900" algn="l">
              <a:buFont typeface="Wingdings" panose="05000000000000000000" pitchFamily="2" charset="2"/>
              <a:buChar char="§"/>
            </a:pPr>
            <a:r>
              <a:rPr lang="en-GB" dirty="0" err="1">
                <a:solidFill>
                  <a:schemeClr val="bg1"/>
                </a:solidFill>
              </a:rPr>
              <a:t>MergeSort</a:t>
            </a:r>
            <a:endParaRPr lang="en-GB" dirty="0">
              <a:solidFill>
                <a:schemeClr val="bg1"/>
              </a:solidFill>
            </a:endParaRPr>
          </a:p>
          <a:p>
            <a:pPr marL="342900" indent="-342900" algn="l">
              <a:buFont typeface="Wingdings" panose="05000000000000000000" pitchFamily="2" charset="2"/>
              <a:buChar char="§"/>
            </a:pPr>
            <a:r>
              <a:rPr lang="en-GB" dirty="0">
                <a:solidFill>
                  <a:schemeClr val="bg1"/>
                </a:solidFill>
              </a:rPr>
              <a:t>Refactoring</a:t>
            </a:r>
          </a:p>
        </p:txBody>
      </p:sp>
    </p:spTree>
    <p:extLst>
      <p:ext uri="{BB962C8B-B14F-4D97-AF65-F5344CB8AC3E}">
        <p14:creationId xmlns:p14="http://schemas.microsoft.com/office/powerpoint/2010/main" val="414906022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MapReduce</a:t>
            </a:r>
            <a:endParaRPr lang="de-DE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71600" y="2171700"/>
            <a:ext cx="10476650" cy="2459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671641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MergeSort</a:t>
            </a:r>
            <a:endParaRPr lang="de-DE" dirty="0"/>
          </a:p>
        </p:txBody>
      </p:sp>
      <p:pic>
        <p:nvPicPr>
          <p:cNvPr id="6" name="Content Placeholder 5"/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371600" y="3054312"/>
            <a:ext cx="4448175" cy="2044776"/>
          </a:xfrm>
          <a:prstGeom prst="rect">
            <a:avLst/>
          </a:prstGeom>
        </p:spPr>
      </p:pic>
      <p:pic>
        <p:nvPicPr>
          <p:cNvPr id="7" name="Content Placeholder 6"/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524625" y="2896770"/>
            <a:ext cx="4448175" cy="23598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209335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Refactoring</a:t>
            </a:r>
            <a:r>
              <a:rPr lang="de-DE" dirty="0"/>
              <a:t>	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Live!</a:t>
            </a:r>
          </a:p>
        </p:txBody>
      </p:sp>
    </p:spTree>
    <p:extLst>
      <p:ext uri="{BB962C8B-B14F-4D97-AF65-F5344CB8AC3E}">
        <p14:creationId xmlns:p14="http://schemas.microsoft.com/office/powerpoint/2010/main" val="19373115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parseInt</a:t>
            </a:r>
            <a:endParaRPr lang="de-DE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2171700"/>
            <a:ext cx="7802064" cy="457264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3939703"/>
            <a:ext cx="8735736" cy="350322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71600" y="3282839"/>
            <a:ext cx="7041910" cy="39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25425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TypeScript</a:t>
            </a:r>
            <a:endParaRPr lang="de-DE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dirty="0"/>
              <a:t>Supports pure JS </a:t>
            </a:r>
            <a:r>
              <a:rPr lang="en-GB" dirty="0" err="1"/>
              <a:t>aswell</a:t>
            </a:r>
            <a:endParaRPr lang="en-GB" dirty="0"/>
          </a:p>
          <a:p>
            <a:r>
              <a:rPr lang="en-GB" dirty="0"/>
              <a:t>Static typing reduces errors</a:t>
            </a:r>
          </a:p>
          <a:p>
            <a:r>
              <a:rPr lang="en-GB" dirty="0"/>
              <a:t>Better IDE support (e.g. autocomplete)</a:t>
            </a:r>
          </a:p>
          <a:p>
            <a:r>
              <a:rPr lang="en-GB" dirty="0"/>
              <a:t>Functional aspects combined with OOP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>
              <a:buFont typeface="Symbol" panose="05050102010706020507" pitchFamily="18" charset="2"/>
              <a:buChar char="-"/>
            </a:pPr>
            <a:r>
              <a:rPr lang="en-GB" dirty="0"/>
              <a:t>1 more step between written and running code</a:t>
            </a:r>
          </a:p>
          <a:p>
            <a:pPr>
              <a:buFont typeface="Symbol" panose="05050102010706020507" pitchFamily="18" charset="2"/>
              <a:buChar char="-"/>
            </a:pPr>
            <a:r>
              <a:rPr lang="en-GB" dirty="0"/>
              <a:t>Tooling not as sophisticated as JS yet (e.g. test coverage)</a:t>
            </a:r>
          </a:p>
          <a:p>
            <a:pPr>
              <a:buFont typeface="Symbol" panose="05050102010706020507" pitchFamily="18" charset="2"/>
              <a:buChar char="-"/>
            </a:pPr>
            <a:r>
              <a:rPr lang="en-GB" dirty="0"/>
              <a:t>Shared state often needed when building UI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21006924"/>
      </p:ext>
    </p:extLst>
  </p:cSld>
  <p:clrMapOvr>
    <a:masterClrMapping/>
  </p:clrMapOvr>
</p:sld>
</file>

<file path=ppt/theme/theme1.xml><?xml version="1.0" encoding="utf-8"?>
<a:theme xmlns:a="http://schemas.openxmlformats.org/drawingml/2006/main" name="Crop">
  <a:themeElements>
    <a:clrScheme name="Crop">
      <a:dk1>
        <a:sysClr val="windowText" lastClr="000000"/>
      </a:dk1>
      <a:lt1>
        <a:sysClr val="window" lastClr="FFFFFF"/>
      </a:lt1>
      <a:dk2>
        <a:srgbClr val="1A2E40"/>
      </a:dk2>
      <a:lt2>
        <a:srgbClr val="EBE7DD"/>
      </a:lt2>
      <a:accent1>
        <a:srgbClr val="69A1AB"/>
      </a:accent1>
      <a:accent2>
        <a:srgbClr val="F2C418"/>
      </a:accent2>
      <a:accent3>
        <a:srgbClr val="87492C"/>
      </a:accent3>
      <a:accent4>
        <a:srgbClr val="4A845E"/>
      </a:accent4>
      <a:accent5>
        <a:srgbClr val="DC9528"/>
      </a:accent5>
      <a:accent6>
        <a:srgbClr val="9A5D78"/>
      </a:accent6>
      <a:hlink>
        <a:srgbClr val="66C8E3"/>
      </a:hlink>
      <a:folHlink>
        <a:srgbClr val="B162A1"/>
      </a:folHlink>
    </a:clrScheme>
    <a:fontScheme name="Crop">
      <a:maj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Crop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rop" id="{EC9488ED-E761-4D60-9AC4-764D1FE2C171}" vid="{17F9D331-421E-442F-B033-AF5B21A4485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TM10001105[[fn=Crop]]</Template>
  <TotalTime>0</TotalTime>
  <Words>385</Words>
  <Application>Microsoft Office PowerPoint</Application>
  <PresentationFormat>Widescreen</PresentationFormat>
  <Paragraphs>145</Paragraphs>
  <Slides>51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51</vt:i4>
      </vt:variant>
    </vt:vector>
  </HeadingPairs>
  <TitlesOfParts>
    <vt:vector size="55" baseType="lpstr">
      <vt:lpstr>Franklin Gothic Book</vt:lpstr>
      <vt:lpstr>Symbol</vt:lpstr>
      <vt:lpstr>Wingdings</vt:lpstr>
      <vt:lpstr>Crop</vt:lpstr>
      <vt:lpstr>Typescript</vt:lpstr>
      <vt:lpstr>TypeScript</vt:lpstr>
      <vt:lpstr>PowerPoint Presentation</vt:lpstr>
      <vt:lpstr>PowerPoint Presentation</vt:lpstr>
      <vt:lpstr>Overview</vt:lpstr>
      <vt:lpstr>Basics</vt:lpstr>
      <vt:lpstr>Declare variable</vt:lpstr>
      <vt:lpstr>PowerPoint Presentation</vt:lpstr>
      <vt:lpstr>Types – Part I</vt:lpstr>
      <vt:lpstr>Types – Part II</vt:lpstr>
      <vt:lpstr>Types – Part III</vt:lpstr>
      <vt:lpstr>Undefined &amp; Null</vt:lpstr>
      <vt:lpstr>Objects</vt:lpstr>
      <vt:lpstr>Maps</vt:lpstr>
      <vt:lpstr>Truthy &amp; Falsy</vt:lpstr>
      <vt:lpstr>Operations</vt:lpstr>
      <vt:lpstr>Boolean Expressions</vt:lpstr>
      <vt:lpstr>Operations – Part I</vt:lpstr>
      <vt:lpstr>Operations – Part II</vt:lpstr>
      <vt:lpstr>Operations – Part III</vt:lpstr>
      <vt:lpstr>Loops</vt:lpstr>
      <vt:lpstr>Object oriented programming </vt:lpstr>
      <vt:lpstr>Classes &amp; features</vt:lpstr>
      <vt:lpstr>Getter &amp; Setter</vt:lpstr>
      <vt:lpstr>Class - Getter &amp; Setter</vt:lpstr>
      <vt:lpstr>Interface</vt:lpstr>
      <vt:lpstr>Functions</vt:lpstr>
      <vt:lpstr>Syntax </vt:lpstr>
      <vt:lpstr>Immediately invoked functions </vt:lpstr>
      <vt:lpstr>Typing</vt:lpstr>
      <vt:lpstr>Higher Order Function</vt:lpstr>
      <vt:lpstr>Rest Parameters</vt:lpstr>
      <vt:lpstr>Optional Parameters</vt:lpstr>
      <vt:lpstr>Exercise: Fibonacci I</vt:lpstr>
      <vt:lpstr>Exercise: Fibonacci I</vt:lpstr>
      <vt:lpstr>Lazy Generators (ES6 only!)</vt:lpstr>
      <vt:lpstr>Exercise: Fibonacci II</vt:lpstr>
      <vt:lpstr>Exercise: Fibonacci II</vt:lpstr>
      <vt:lpstr>Arrays</vt:lpstr>
      <vt:lpstr>Operations – Part I</vt:lpstr>
      <vt:lpstr>Operations – Part II</vt:lpstr>
      <vt:lpstr>Operations – Part III</vt:lpstr>
      <vt:lpstr>Filter</vt:lpstr>
      <vt:lpstr>Map</vt:lpstr>
      <vt:lpstr>Reduce</vt:lpstr>
      <vt:lpstr>Exercises</vt:lpstr>
      <vt:lpstr>MapReduce</vt:lpstr>
      <vt:lpstr>MergeSort</vt:lpstr>
      <vt:lpstr>Refactoring </vt:lpstr>
      <vt:lpstr>parseInt</vt:lpstr>
      <vt:lpstr>TypeScript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Typescript</dc:title>
  <dc:creator>nelo112@web.de</dc:creator>
  <cp:lastModifiedBy>nelo112@web.de</cp:lastModifiedBy>
  <cp:revision>64</cp:revision>
  <dcterms:created xsi:type="dcterms:W3CDTF">2017-06-21T18:15:23Z</dcterms:created>
  <dcterms:modified xsi:type="dcterms:W3CDTF">2017-06-26T20:45:15Z</dcterms:modified>
</cp:coreProperties>
</file>